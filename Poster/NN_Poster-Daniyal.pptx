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96" r:id="rId1"/>
  </p:sldMasterIdLst>
  <p:notesMasterIdLst>
    <p:notesMasterId r:id="rId3"/>
  </p:notesMasterIdLst>
  <p:sldIdLst>
    <p:sldId id="256" r:id="rId2"/>
  </p:sldIdLst>
  <p:sldSz cx="30175200" cy="429768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3536">
          <p15:clr>
            <a:srgbClr val="A4A3A4"/>
          </p15:clr>
        </p15:guide>
        <p15:guide id="2" pos="9504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03864"/>
    <a:srgbClr val="46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0711" autoAdjust="0"/>
    <p:restoredTop sz="92349" autoAdjust="0"/>
  </p:normalViewPr>
  <p:slideViewPr>
    <p:cSldViewPr snapToGrid="0" snapToObjects="1">
      <p:cViewPr>
        <p:scale>
          <a:sx n="25" d="100"/>
          <a:sy n="25" d="100"/>
        </p:scale>
        <p:origin x="1675" y="-264"/>
      </p:cViewPr>
      <p:guideLst>
        <p:guide orient="horz" pos="13536"/>
        <p:guide pos="9504"/>
      </p:guideLst>
    </p:cSldViewPr>
  </p:slideViewPr>
  <p:notesTextViewPr>
    <p:cViewPr>
      <p:scale>
        <a:sx n="125" d="100"/>
        <a:sy n="125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1076A57-C802-46FC-91CD-64278F305744}" type="datetimeFigureOut">
              <a:rPr lang="en-US" smtClean="0"/>
              <a:t>4/15/2026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346325" y="1143000"/>
            <a:ext cx="216535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2006E46-AF5A-4340-8B9A-B9665E41D236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832817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2006E46-AF5A-4340-8B9A-B9665E41D236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3662962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771900" y="7033475"/>
            <a:ext cx="22631400" cy="14962293"/>
          </a:xfrm>
        </p:spPr>
        <p:txBody>
          <a:bodyPr anchor="b"/>
          <a:lstStyle>
            <a:lvl1pPr algn="ctr">
              <a:defRPr sz="1485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771900" y="22572771"/>
            <a:ext cx="22631400" cy="10376109"/>
          </a:xfrm>
        </p:spPr>
        <p:txBody>
          <a:bodyPr/>
          <a:lstStyle>
            <a:lvl1pPr marL="0" indent="0" algn="ctr">
              <a:buNone/>
              <a:defRPr sz="5940"/>
            </a:lvl1pPr>
            <a:lvl2pPr marL="1131570" indent="0" algn="ctr">
              <a:buNone/>
              <a:defRPr sz="4950"/>
            </a:lvl2pPr>
            <a:lvl3pPr marL="2263140" indent="0" algn="ctr">
              <a:buNone/>
              <a:defRPr sz="4455"/>
            </a:lvl3pPr>
            <a:lvl4pPr marL="3394710" indent="0" algn="ctr">
              <a:buNone/>
              <a:defRPr sz="3960"/>
            </a:lvl4pPr>
            <a:lvl5pPr marL="4526280" indent="0" algn="ctr">
              <a:buNone/>
              <a:defRPr sz="3960"/>
            </a:lvl5pPr>
            <a:lvl6pPr marL="5657850" indent="0" algn="ctr">
              <a:buNone/>
              <a:defRPr sz="3960"/>
            </a:lvl6pPr>
            <a:lvl7pPr marL="6789420" indent="0" algn="ctr">
              <a:buNone/>
              <a:defRPr sz="3960"/>
            </a:lvl7pPr>
            <a:lvl8pPr marL="7920990" indent="0" algn="ctr">
              <a:buNone/>
              <a:defRPr sz="3960"/>
            </a:lvl8pPr>
            <a:lvl9pPr marL="9052560" indent="0" algn="ctr">
              <a:buNone/>
              <a:defRPr sz="396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9645DD-ED71-264F-B994-17448DC09DC0}" type="datetimeFigureOut">
              <a:rPr lang="en-US" smtClean="0"/>
              <a:pPr/>
              <a:t>4/15/2026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12BE98-6463-CC4A-9B64-C1998EBB383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9905563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9645DD-ED71-264F-B994-17448DC09DC0}" type="datetimeFigureOut">
              <a:rPr lang="en-US" smtClean="0"/>
              <a:pPr/>
              <a:t>4/15/2026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12BE98-6463-CC4A-9B64-C1998EBB383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9568170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58829" y="10714361"/>
            <a:ext cx="26026110" cy="17877152"/>
          </a:xfrm>
        </p:spPr>
        <p:txBody>
          <a:bodyPr anchor="b"/>
          <a:lstStyle>
            <a:lvl1pPr>
              <a:defRPr sz="1485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058829" y="28760638"/>
            <a:ext cx="26026110" cy="9401172"/>
          </a:xfrm>
        </p:spPr>
        <p:txBody>
          <a:bodyPr/>
          <a:lstStyle>
            <a:lvl1pPr marL="0" indent="0">
              <a:buNone/>
              <a:defRPr sz="5940">
                <a:solidFill>
                  <a:schemeClr val="tx1">
                    <a:tint val="75000"/>
                  </a:schemeClr>
                </a:solidFill>
              </a:defRPr>
            </a:lvl1pPr>
            <a:lvl2pPr marL="1131570" indent="0">
              <a:buNone/>
              <a:defRPr sz="4950">
                <a:solidFill>
                  <a:schemeClr val="tx1">
                    <a:tint val="75000"/>
                  </a:schemeClr>
                </a:solidFill>
              </a:defRPr>
            </a:lvl2pPr>
            <a:lvl3pPr marL="2263140" indent="0">
              <a:buNone/>
              <a:defRPr sz="4455">
                <a:solidFill>
                  <a:schemeClr val="tx1">
                    <a:tint val="75000"/>
                  </a:schemeClr>
                </a:solidFill>
              </a:defRPr>
            </a:lvl3pPr>
            <a:lvl4pPr marL="3394710" indent="0">
              <a:buNone/>
              <a:defRPr sz="3960">
                <a:solidFill>
                  <a:schemeClr val="tx1">
                    <a:tint val="75000"/>
                  </a:schemeClr>
                </a:solidFill>
              </a:defRPr>
            </a:lvl4pPr>
            <a:lvl5pPr marL="4526280" indent="0">
              <a:buNone/>
              <a:defRPr sz="3960">
                <a:solidFill>
                  <a:schemeClr val="tx1">
                    <a:tint val="75000"/>
                  </a:schemeClr>
                </a:solidFill>
              </a:defRPr>
            </a:lvl5pPr>
            <a:lvl6pPr marL="5657850" indent="0">
              <a:buNone/>
              <a:defRPr sz="3960">
                <a:solidFill>
                  <a:schemeClr val="tx1">
                    <a:tint val="75000"/>
                  </a:schemeClr>
                </a:solidFill>
              </a:defRPr>
            </a:lvl6pPr>
            <a:lvl7pPr marL="6789420" indent="0">
              <a:buNone/>
              <a:defRPr sz="3960">
                <a:solidFill>
                  <a:schemeClr val="tx1">
                    <a:tint val="75000"/>
                  </a:schemeClr>
                </a:solidFill>
              </a:defRPr>
            </a:lvl7pPr>
            <a:lvl8pPr marL="7920990" indent="0">
              <a:buNone/>
              <a:defRPr sz="3960">
                <a:solidFill>
                  <a:schemeClr val="tx1">
                    <a:tint val="75000"/>
                  </a:schemeClr>
                </a:solidFill>
              </a:defRPr>
            </a:lvl8pPr>
            <a:lvl9pPr marL="9052560" indent="0">
              <a:buNone/>
              <a:defRPr sz="396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9645DD-ED71-264F-B994-17448DC09DC0}" type="datetimeFigureOut">
              <a:rPr lang="en-US" smtClean="0"/>
              <a:pPr/>
              <a:t>4/15/2026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12BE98-6463-CC4A-9B64-C1998EBB383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6586300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074545" y="11440583"/>
            <a:ext cx="12824460" cy="27268385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5276195" y="11440583"/>
            <a:ext cx="12824460" cy="27268385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9645DD-ED71-264F-B994-17448DC09DC0}" type="datetimeFigureOut">
              <a:rPr lang="en-US" smtClean="0"/>
              <a:pPr/>
              <a:t>4/15/2026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12BE98-6463-CC4A-9B64-C1998EBB383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2641283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78475" y="2288120"/>
            <a:ext cx="26026110" cy="8306861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078476" y="10535288"/>
            <a:ext cx="12765523" cy="5163182"/>
          </a:xfrm>
        </p:spPr>
        <p:txBody>
          <a:bodyPr anchor="b"/>
          <a:lstStyle>
            <a:lvl1pPr marL="0" indent="0">
              <a:buNone/>
              <a:defRPr sz="5940" b="1"/>
            </a:lvl1pPr>
            <a:lvl2pPr marL="1131570" indent="0">
              <a:buNone/>
              <a:defRPr sz="4950" b="1"/>
            </a:lvl2pPr>
            <a:lvl3pPr marL="2263140" indent="0">
              <a:buNone/>
              <a:defRPr sz="4455" b="1"/>
            </a:lvl3pPr>
            <a:lvl4pPr marL="3394710" indent="0">
              <a:buNone/>
              <a:defRPr sz="3960" b="1"/>
            </a:lvl4pPr>
            <a:lvl5pPr marL="4526280" indent="0">
              <a:buNone/>
              <a:defRPr sz="3960" b="1"/>
            </a:lvl5pPr>
            <a:lvl6pPr marL="5657850" indent="0">
              <a:buNone/>
              <a:defRPr sz="3960" b="1"/>
            </a:lvl6pPr>
            <a:lvl7pPr marL="6789420" indent="0">
              <a:buNone/>
              <a:defRPr sz="3960" b="1"/>
            </a:lvl7pPr>
            <a:lvl8pPr marL="7920990" indent="0">
              <a:buNone/>
              <a:defRPr sz="3960" b="1"/>
            </a:lvl8pPr>
            <a:lvl9pPr marL="9052560" indent="0">
              <a:buNone/>
              <a:defRPr sz="396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078476" y="15698470"/>
            <a:ext cx="12765523" cy="23090085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15276195" y="10535288"/>
            <a:ext cx="12828390" cy="5163182"/>
          </a:xfrm>
        </p:spPr>
        <p:txBody>
          <a:bodyPr anchor="b"/>
          <a:lstStyle>
            <a:lvl1pPr marL="0" indent="0">
              <a:buNone/>
              <a:defRPr sz="5940" b="1"/>
            </a:lvl1pPr>
            <a:lvl2pPr marL="1131570" indent="0">
              <a:buNone/>
              <a:defRPr sz="4950" b="1"/>
            </a:lvl2pPr>
            <a:lvl3pPr marL="2263140" indent="0">
              <a:buNone/>
              <a:defRPr sz="4455" b="1"/>
            </a:lvl3pPr>
            <a:lvl4pPr marL="3394710" indent="0">
              <a:buNone/>
              <a:defRPr sz="3960" b="1"/>
            </a:lvl4pPr>
            <a:lvl5pPr marL="4526280" indent="0">
              <a:buNone/>
              <a:defRPr sz="3960" b="1"/>
            </a:lvl5pPr>
            <a:lvl6pPr marL="5657850" indent="0">
              <a:buNone/>
              <a:defRPr sz="3960" b="1"/>
            </a:lvl6pPr>
            <a:lvl7pPr marL="6789420" indent="0">
              <a:buNone/>
              <a:defRPr sz="3960" b="1"/>
            </a:lvl7pPr>
            <a:lvl8pPr marL="7920990" indent="0">
              <a:buNone/>
              <a:defRPr sz="3960" b="1"/>
            </a:lvl8pPr>
            <a:lvl9pPr marL="9052560" indent="0">
              <a:buNone/>
              <a:defRPr sz="396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15276195" y="15698470"/>
            <a:ext cx="12828390" cy="23090085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9645DD-ED71-264F-B994-17448DC09DC0}" type="datetimeFigureOut">
              <a:rPr lang="en-US" smtClean="0"/>
              <a:pPr/>
              <a:t>4/15/2026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12BE98-6463-CC4A-9B64-C1998EBB383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7462056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9645DD-ED71-264F-B994-17448DC09DC0}" type="datetimeFigureOut">
              <a:rPr lang="en-US" smtClean="0"/>
              <a:pPr/>
              <a:t>4/15/2026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12BE98-6463-CC4A-9B64-C1998EBB383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1735687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9645DD-ED71-264F-B994-17448DC09DC0}" type="datetimeFigureOut">
              <a:rPr lang="en-US" smtClean="0"/>
              <a:pPr/>
              <a:t>4/15/2026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12BE98-6463-CC4A-9B64-C1998EBB383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8952952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78476" y="2865120"/>
            <a:ext cx="9732287" cy="10027920"/>
          </a:xfrm>
        </p:spPr>
        <p:txBody>
          <a:bodyPr anchor="b"/>
          <a:lstStyle>
            <a:lvl1pPr>
              <a:defRPr sz="792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828390" y="6187867"/>
            <a:ext cx="15276195" cy="30541383"/>
          </a:xfrm>
        </p:spPr>
        <p:txBody>
          <a:bodyPr/>
          <a:lstStyle>
            <a:lvl1pPr>
              <a:defRPr sz="7920"/>
            </a:lvl1pPr>
            <a:lvl2pPr>
              <a:defRPr sz="6930"/>
            </a:lvl2pPr>
            <a:lvl3pPr>
              <a:defRPr sz="5940"/>
            </a:lvl3pPr>
            <a:lvl4pPr>
              <a:defRPr sz="4950"/>
            </a:lvl4pPr>
            <a:lvl5pPr>
              <a:defRPr sz="4950"/>
            </a:lvl5pPr>
            <a:lvl6pPr>
              <a:defRPr sz="4950"/>
            </a:lvl6pPr>
            <a:lvl7pPr>
              <a:defRPr sz="4950"/>
            </a:lvl7pPr>
            <a:lvl8pPr>
              <a:defRPr sz="4950"/>
            </a:lvl8pPr>
            <a:lvl9pPr>
              <a:defRPr sz="495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078476" y="12893040"/>
            <a:ext cx="9732287" cy="23885951"/>
          </a:xfrm>
        </p:spPr>
        <p:txBody>
          <a:bodyPr/>
          <a:lstStyle>
            <a:lvl1pPr marL="0" indent="0">
              <a:buNone/>
              <a:defRPr sz="3960"/>
            </a:lvl1pPr>
            <a:lvl2pPr marL="1131570" indent="0">
              <a:buNone/>
              <a:defRPr sz="3465"/>
            </a:lvl2pPr>
            <a:lvl3pPr marL="2263140" indent="0">
              <a:buNone/>
              <a:defRPr sz="2970"/>
            </a:lvl3pPr>
            <a:lvl4pPr marL="3394710" indent="0">
              <a:buNone/>
              <a:defRPr sz="2475"/>
            </a:lvl4pPr>
            <a:lvl5pPr marL="4526280" indent="0">
              <a:buNone/>
              <a:defRPr sz="2475"/>
            </a:lvl5pPr>
            <a:lvl6pPr marL="5657850" indent="0">
              <a:buNone/>
              <a:defRPr sz="2475"/>
            </a:lvl6pPr>
            <a:lvl7pPr marL="6789420" indent="0">
              <a:buNone/>
              <a:defRPr sz="2475"/>
            </a:lvl7pPr>
            <a:lvl8pPr marL="7920990" indent="0">
              <a:buNone/>
              <a:defRPr sz="2475"/>
            </a:lvl8pPr>
            <a:lvl9pPr marL="9052560" indent="0">
              <a:buNone/>
              <a:defRPr sz="2475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9645DD-ED71-264F-B994-17448DC09DC0}" type="datetimeFigureOut">
              <a:rPr lang="en-US" smtClean="0"/>
              <a:pPr/>
              <a:t>4/15/2026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12BE98-6463-CC4A-9B64-C1998EBB383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1626189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78476" y="2865120"/>
            <a:ext cx="9732287" cy="10027920"/>
          </a:xfrm>
        </p:spPr>
        <p:txBody>
          <a:bodyPr anchor="b"/>
          <a:lstStyle>
            <a:lvl1pPr>
              <a:defRPr sz="792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2828390" y="6187867"/>
            <a:ext cx="15276195" cy="30541383"/>
          </a:xfrm>
        </p:spPr>
        <p:txBody>
          <a:bodyPr/>
          <a:lstStyle>
            <a:lvl1pPr marL="0" indent="0">
              <a:buNone/>
              <a:defRPr sz="7920"/>
            </a:lvl1pPr>
            <a:lvl2pPr marL="1131570" indent="0">
              <a:buNone/>
              <a:defRPr sz="6930"/>
            </a:lvl2pPr>
            <a:lvl3pPr marL="2263140" indent="0">
              <a:buNone/>
              <a:defRPr sz="5940"/>
            </a:lvl3pPr>
            <a:lvl4pPr marL="3394710" indent="0">
              <a:buNone/>
              <a:defRPr sz="4950"/>
            </a:lvl4pPr>
            <a:lvl5pPr marL="4526280" indent="0">
              <a:buNone/>
              <a:defRPr sz="4950"/>
            </a:lvl5pPr>
            <a:lvl6pPr marL="5657850" indent="0">
              <a:buNone/>
              <a:defRPr sz="4950"/>
            </a:lvl6pPr>
            <a:lvl7pPr marL="6789420" indent="0">
              <a:buNone/>
              <a:defRPr sz="4950"/>
            </a:lvl7pPr>
            <a:lvl8pPr marL="7920990" indent="0">
              <a:buNone/>
              <a:defRPr sz="4950"/>
            </a:lvl8pPr>
            <a:lvl9pPr marL="9052560" indent="0">
              <a:buNone/>
              <a:defRPr sz="4950"/>
            </a:lvl9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078476" y="12893040"/>
            <a:ext cx="9732287" cy="23885951"/>
          </a:xfrm>
        </p:spPr>
        <p:txBody>
          <a:bodyPr/>
          <a:lstStyle>
            <a:lvl1pPr marL="0" indent="0">
              <a:buNone/>
              <a:defRPr sz="3960"/>
            </a:lvl1pPr>
            <a:lvl2pPr marL="1131570" indent="0">
              <a:buNone/>
              <a:defRPr sz="3465"/>
            </a:lvl2pPr>
            <a:lvl3pPr marL="2263140" indent="0">
              <a:buNone/>
              <a:defRPr sz="2970"/>
            </a:lvl3pPr>
            <a:lvl4pPr marL="3394710" indent="0">
              <a:buNone/>
              <a:defRPr sz="2475"/>
            </a:lvl4pPr>
            <a:lvl5pPr marL="4526280" indent="0">
              <a:buNone/>
              <a:defRPr sz="2475"/>
            </a:lvl5pPr>
            <a:lvl6pPr marL="5657850" indent="0">
              <a:buNone/>
              <a:defRPr sz="2475"/>
            </a:lvl6pPr>
            <a:lvl7pPr marL="6789420" indent="0">
              <a:buNone/>
              <a:defRPr sz="2475"/>
            </a:lvl7pPr>
            <a:lvl8pPr marL="7920990" indent="0">
              <a:buNone/>
              <a:defRPr sz="2475"/>
            </a:lvl8pPr>
            <a:lvl9pPr marL="9052560" indent="0">
              <a:buNone/>
              <a:defRPr sz="2475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9645DD-ED71-264F-B994-17448DC09DC0}" type="datetimeFigureOut">
              <a:rPr lang="en-US" smtClean="0"/>
              <a:pPr/>
              <a:t>4/15/2026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12BE98-6463-CC4A-9B64-C1998EBB383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6673911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9645DD-ED71-264F-B994-17448DC09DC0}" type="datetimeFigureOut">
              <a:rPr lang="en-US" smtClean="0"/>
              <a:pPr/>
              <a:t>4/15/2026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12BE98-6463-CC4A-9B64-C1998EBB383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2910516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21594127" y="2288117"/>
            <a:ext cx="6506528" cy="36420851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074545" y="2288117"/>
            <a:ext cx="19142393" cy="36420851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9645DD-ED71-264F-B994-17448DC09DC0}" type="datetimeFigureOut">
              <a:rPr lang="en-US" smtClean="0"/>
              <a:pPr/>
              <a:t>4/15/2026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12BE98-6463-CC4A-9B64-C1998EBB383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5979279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074545" y="2288120"/>
            <a:ext cx="26026110" cy="830686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074545" y="11440583"/>
            <a:ext cx="26026110" cy="2726838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2074545" y="39833130"/>
            <a:ext cx="6789420" cy="228811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297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A9645DD-ED71-264F-B994-17448DC09DC0}" type="datetimeFigureOut">
              <a:rPr lang="en-US" smtClean="0"/>
              <a:pPr/>
              <a:t>4/15/2026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9995535" y="39833130"/>
            <a:ext cx="10184130" cy="228811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297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21311235" y="39833130"/>
            <a:ext cx="6789420" cy="228811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97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E12BE98-6463-CC4A-9B64-C1998EBB383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4946400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</p:sldLayoutIdLst>
  <p:txStyles>
    <p:titleStyle>
      <a:lvl1pPr algn="l" defTabSz="2263140" rtl="0" eaLnBrk="1" latinLnBrk="0" hangingPunct="1">
        <a:lnSpc>
          <a:spcPct val="90000"/>
        </a:lnSpc>
        <a:spcBef>
          <a:spcPct val="0"/>
        </a:spcBef>
        <a:buNone/>
        <a:defRPr sz="1089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565785" indent="-565785" algn="l" defTabSz="2263140" rtl="0" eaLnBrk="1" latinLnBrk="0" hangingPunct="1">
        <a:lnSpc>
          <a:spcPct val="90000"/>
        </a:lnSpc>
        <a:spcBef>
          <a:spcPts val="2475"/>
        </a:spcBef>
        <a:buFont typeface="Arial" panose="020B0604020202020204" pitchFamily="34" charset="0"/>
        <a:buChar char="•"/>
        <a:defRPr sz="6930" kern="1200">
          <a:solidFill>
            <a:schemeClr val="tx1"/>
          </a:solidFill>
          <a:latin typeface="+mn-lt"/>
          <a:ea typeface="+mn-ea"/>
          <a:cs typeface="+mn-cs"/>
        </a:defRPr>
      </a:lvl1pPr>
      <a:lvl2pPr marL="1697355" indent="-565785" algn="l" defTabSz="2263140" rtl="0" eaLnBrk="1" latinLnBrk="0" hangingPunct="1">
        <a:lnSpc>
          <a:spcPct val="90000"/>
        </a:lnSpc>
        <a:spcBef>
          <a:spcPts val="1238"/>
        </a:spcBef>
        <a:buFont typeface="Arial" panose="020B0604020202020204" pitchFamily="34" charset="0"/>
        <a:buChar char="•"/>
        <a:defRPr sz="5940" kern="1200">
          <a:solidFill>
            <a:schemeClr val="tx1"/>
          </a:solidFill>
          <a:latin typeface="+mn-lt"/>
          <a:ea typeface="+mn-ea"/>
          <a:cs typeface="+mn-cs"/>
        </a:defRPr>
      </a:lvl2pPr>
      <a:lvl3pPr marL="2828925" indent="-565785" algn="l" defTabSz="2263140" rtl="0" eaLnBrk="1" latinLnBrk="0" hangingPunct="1">
        <a:lnSpc>
          <a:spcPct val="90000"/>
        </a:lnSpc>
        <a:spcBef>
          <a:spcPts val="1238"/>
        </a:spcBef>
        <a:buFont typeface="Arial" panose="020B0604020202020204" pitchFamily="34" charset="0"/>
        <a:buChar char="•"/>
        <a:defRPr sz="4950" kern="1200">
          <a:solidFill>
            <a:schemeClr val="tx1"/>
          </a:solidFill>
          <a:latin typeface="+mn-lt"/>
          <a:ea typeface="+mn-ea"/>
          <a:cs typeface="+mn-cs"/>
        </a:defRPr>
      </a:lvl3pPr>
      <a:lvl4pPr marL="3960495" indent="-565785" algn="l" defTabSz="2263140" rtl="0" eaLnBrk="1" latinLnBrk="0" hangingPunct="1">
        <a:lnSpc>
          <a:spcPct val="90000"/>
        </a:lnSpc>
        <a:spcBef>
          <a:spcPts val="1238"/>
        </a:spcBef>
        <a:buFont typeface="Arial" panose="020B0604020202020204" pitchFamily="34" charset="0"/>
        <a:buChar char="•"/>
        <a:defRPr sz="4455" kern="1200">
          <a:solidFill>
            <a:schemeClr val="tx1"/>
          </a:solidFill>
          <a:latin typeface="+mn-lt"/>
          <a:ea typeface="+mn-ea"/>
          <a:cs typeface="+mn-cs"/>
        </a:defRPr>
      </a:lvl4pPr>
      <a:lvl5pPr marL="5092065" indent="-565785" algn="l" defTabSz="2263140" rtl="0" eaLnBrk="1" latinLnBrk="0" hangingPunct="1">
        <a:lnSpc>
          <a:spcPct val="90000"/>
        </a:lnSpc>
        <a:spcBef>
          <a:spcPts val="1238"/>
        </a:spcBef>
        <a:buFont typeface="Arial" panose="020B0604020202020204" pitchFamily="34" charset="0"/>
        <a:buChar char="•"/>
        <a:defRPr sz="4455" kern="1200">
          <a:solidFill>
            <a:schemeClr val="tx1"/>
          </a:solidFill>
          <a:latin typeface="+mn-lt"/>
          <a:ea typeface="+mn-ea"/>
          <a:cs typeface="+mn-cs"/>
        </a:defRPr>
      </a:lvl5pPr>
      <a:lvl6pPr marL="6223635" indent="-565785" algn="l" defTabSz="2263140" rtl="0" eaLnBrk="1" latinLnBrk="0" hangingPunct="1">
        <a:lnSpc>
          <a:spcPct val="90000"/>
        </a:lnSpc>
        <a:spcBef>
          <a:spcPts val="1238"/>
        </a:spcBef>
        <a:buFont typeface="Arial" panose="020B0604020202020204" pitchFamily="34" charset="0"/>
        <a:buChar char="•"/>
        <a:defRPr sz="4455" kern="1200">
          <a:solidFill>
            <a:schemeClr val="tx1"/>
          </a:solidFill>
          <a:latin typeface="+mn-lt"/>
          <a:ea typeface="+mn-ea"/>
          <a:cs typeface="+mn-cs"/>
        </a:defRPr>
      </a:lvl6pPr>
      <a:lvl7pPr marL="7355205" indent="-565785" algn="l" defTabSz="2263140" rtl="0" eaLnBrk="1" latinLnBrk="0" hangingPunct="1">
        <a:lnSpc>
          <a:spcPct val="90000"/>
        </a:lnSpc>
        <a:spcBef>
          <a:spcPts val="1238"/>
        </a:spcBef>
        <a:buFont typeface="Arial" panose="020B0604020202020204" pitchFamily="34" charset="0"/>
        <a:buChar char="•"/>
        <a:defRPr sz="4455" kern="1200">
          <a:solidFill>
            <a:schemeClr val="tx1"/>
          </a:solidFill>
          <a:latin typeface="+mn-lt"/>
          <a:ea typeface="+mn-ea"/>
          <a:cs typeface="+mn-cs"/>
        </a:defRPr>
      </a:lvl7pPr>
      <a:lvl8pPr marL="8486775" indent="-565785" algn="l" defTabSz="2263140" rtl="0" eaLnBrk="1" latinLnBrk="0" hangingPunct="1">
        <a:lnSpc>
          <a:spcPct val="90000"/>
        </a:lnSpc>
        <a:spcBef>
          <a:spcPts val="1238"/>
        </a:spcBef>
        <a:buFont typeface="Arial" panose="020B0604020202020204" pitchFamily="34" charset="0"/>
        <a:buChar char="•"/>
        <a:defRPr sz="4455" kern="1200">
          <a:solidFill>
            <a:schemeClr val="tx1"/>
          </a:solidFill>
          <a:latin typeface="+mn-lt"/>
          <a:ea typeface="+mn-ea"/>
          <a:cs typeface="+mn-cs"/>
        </a:defRPr>
      </a:lvl8pPr>
      <a:lvl9pPr marL="9618345" indent="-565785" algn="l" defTabSz="2263140" rtl="0" eaLnBrk="1" latinLnBrk="0" hangingPunct="1">
        <a:lnSpc>
          <a:spcPct val="90000"/>
        </a:lnSpc>
        <a:spcBef>
          <a:spcPts val="1238"/>
        </a:spcBef>
        <a:buFont typeface="Arial" panose="020B0604020202020204" pitchFamily="34" charset="0"/>
        <a:buChar char="•"/>
        <a:defRPr sz="445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2263140" rtl="0" eaLnBrk="1" latinLnBrk="0" hangingPunct="1">
        <a:defRPr sz="4455" kern="1200">
          <a:solidFill>
            <a:schemeClr val="tx1"/>
          </a:solidFill>
          <a:latin typeface="+mn-lt"/>
          <a:ea typeface="+mn-ea"/>
          <a:cs typeface="+mn-cs"/>
        </a:defRPr>
      </a:lvl1pPr>
      <a:lvl2pPr marL="1131570" algn="l" defTabSz="2263140" rtl="0" eaLnBrk="1" latinLnBrk="0" hangingPunct="1">
        <a:defRPr sz="4455" kern="1200">
          <a:solidFill>
            <a:schemeClr val="tx1"/>
          </a:solidFill>
          <a:latin typeface="+mn-lt"/>
          <a:ea typeface="+mn-ea"/>
          <a:cs typeface="+mn-cs"/>
        </a:defRPr>
      </a:lvl2pPr>
      <a:lvl3pPr marL="2263140" algn="l" defTabSz="2263140" rtl="0" eaLnBrk="1" latinLnBrk="0" hangingPunct="1">
        <a:defRPr sz="4455" kern="1200">
          <a:solidFill>
            <a:schemeClr val="tx1"/>
          </a:solidFill>
          <a:latin typeface="+mn-lt"/>
          <a:ea typeface="+mn-ea"/>
          <a:cs typeface="+mn-cs"/>
        </a:defRPr>
      </a:lvl3pPr>
      <a:lvl4pPr marL="3394710" algn="l" defTabSz="2263140" rtl="0" eaLnBrk="1" latinLnBrk="0" hangingPunct="1">
        <a:defRPr sz="4455" kern="1200">
          <a:solidFill>
            <a:schemeClr val="tx1"/>
          </a:solidFill>
          <a:latin typeface="+mn-lt"/>
          <a:ea typeface="+mn-ea"/>
          <a:cs typeface="+mn-cs"/>
        </a:defRPr>
      </a:lvl4pPr>
      <a:lvl5pPr marL="4526280" algn="l" defTabSz="2263140" rtl="0" eaLnBrk="1" latinLnBrk="0" hangingPunct="1">
        <a:defRPr sz="4455" kern="1200">
          <a:solidFill>
            <a:schemeClr val="tx1"/>
          </a:solidFill>
          <a:latin typeface="+mn-lt"/>
          <a:ea typeface="+mn-ea"/>
          <a:cs typeface="+mn-cs"/>
        </a:defRPr>
      </a:lvl5pPr>
      <a:lvl6pPr marL="5657850" algn="l" defTabSz="2263140" rtl="0" eaLnBrk="1" latinLnBrk="0" hangingPunct="1">
        <a:defRPr sz="4455" kern="1200">
          <a:solidFill>
            <a:schemeClr val="tx1"/>
          </a:solidFill>
          <a:latin typeface="+mn-lt"/>
          <a:ea typeface="+mn-ea"/>
          <a:cs typeface="+mn-cs"/>
        </a:defRPr>
      </a:lvl6pPr>
      <a:lvl7pPr marL="6789420" algn="l" defTabSz="2263140" rtl="0" eaLnBrk="1" latinLnBrk="0" hangingPunct="1">
        <a:defRPr sz="4455" kern="1200">
          <a:solidFill>
            <a:schemeClr val="tx1"/>
          </a:solidFill>
          <a:latin typeface="+mn-lt"/>
          <a:ea typeface="+mn-ea"/>
          <a:cs typeface="+mn-cs"/>
        </a:defRPr>
      </a:lvl7pPr>
      <a:lvl8pPr marL="7920990" algn="l" defTabSz="2263140" rtl="0" eaLnBrk="1" latinLnBrk="0" hangingPunct="1">
        <a:defRPr sz="4455" kern="1200">
          <a:solidFill>
            <a:schemeClr val="tx1"/>
          </a:solidFill>
          <a:latin typeface="+mn-lt"/>
          <a:ea typeface="+mn-ea"/>
          <a:cs typeface="+mn-cs"/>
        </a:defRPr>
      </a:lvl8pPr>
      <a:lvl9pPr marL="9052560" algn="l" defTabSz="2263140" rtl="0" eaLnBrk="1" latinLnBrk="0" hangingPunct="1">
        <a:defRPr sz="4455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jpe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jpeg"/><Relationship Id="rId5" Type="http://schemas.openxmlformats.org/officeDocument/2006/relationships/image" Target="../media/image3.jpeg"/><Relationship Id="rId10" Type="http://schemas.openxmlformats.org/officeDocument/2006/relationships/image" Target="../media/image8.jpeg"/><Relationship Id="rId4" Type="http://schemas.openxmlformats.org/officeDocument/2006/relationships/image" Target="../media/image2.jpeg"/><Relationship Id="rId9" Type="http://schemas.openxmlformats.org/officeDocument/2006/relationships/image" Target="../media/image7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Rectangle 10">
            <a:extLst>
              <a:ext uri="{FF2B5EF4-FFF2-40B4-BE49-F238E27FC236}">
                <a16:creationId xmlns:a16="http://schemas.microsoft.com/office/drawing/2014/main" id="{2EB3BA20-49B0-5A45-A19F-32BA26078C17}"/>
              </a:ext>
            </a:extLst>
          </p:cNvPr>
          <p:cNvSpPr>
            <a:spLocks noChangeArrowheads="1"/>
          </p:cNvSpPr>
          <p:nvPr/>
        </p:nvSpPr>
        <p:spPr bwMode="auto">
          <a:xfrm>
            <a:off x="994661" y="5803929"/>
            <a:ext cx="13679880" cy="1008000"/>
          </a:xfrm>
          <a:prstGeom prst="rect">
            <a:avLst/>
          </a:prstGeom>
          <a:solidFill>
            <a:schemeClr val="accent5">
              <a:lumMod val="50000"/>
            </a:schemeClr>
          </a:solidFill>
          <a:ln w="12700">
            <a:noFill/>
            <a:miter lim="800000"/>
          </a:ln>
        </p:spPr>
        <p:txBody>
          <a:bodyPr wrap="none" lIns="188595" tIns="50292" rIns="188595" bIns="47137" anchor="ctr" anchorCtr="0"/>
          <a:lstStyle>
            <a:defPPr>
              <a:defRPr kern="1200" smtId="4294967295"/>
            </a:defPPr>
          </a:lstStyle>
          <a:p>
            <a:pPr marL="0" marR="0" lvl="0" indent="0" defTabSz="3233147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Introduction</a:t>
            </a:r>
          </a:p>
        </p:txBody>
      </p:sp>
      <p:grpSp>
        <p:nvGrpSpPr>
          <p:cNvPr id="55" name="Group 54">
            <a:extLst>
              <a:ext uri="{FF2B5EF4-FFF2-40B4-BE49-F238E27FC236}">
                <a16:creationId xmlns:a16="http://schemas.microsoft.com/office/drawing/2014/main" id="{9ECBA871-05AE-804C-8D97-3A9CB84EFB1D}"/>
              </a:ext>
            </a:extLst>
          </p:cNvPr>
          <p:cNvGrpSpPr/>
          <p:nvPr/>
        </p:nvGrpSpPr>
        <p:grpSpPr>
          <a:xfrm>
            <a:off x="941620" y="13346251"/>
            <a:ext cx="28533171" cy="1008000"/>
            <a:chOff x="33680400" y="7438427"/>
            <a:chExt cx="9601200" cy="873301"/>
          </a:xfrm>
          <a:solidFill>
            <a:schemeClr val="accent5">
              <a:lumMod val="50000"/>
            </a:schemeClr>
          </a:solidFill>
        </p:grpSpPr>
        <p:sp>
          <p:nvSpPr>
            <p:cNvPr id="56" name="Rectangle 10">
              <a:extLst>
                <a:ext uri="{FF2B5EF4-FFF2-40B4-BE49-F238E27FC236}">
                  <a16:creationId xmlns:a16="http://schemas.microsoft.com/office/drawing/2014/main" id="{E426529D-2032-7F4F-9812-A7E7678D19C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680400" y="7438427"/>
              <a:ext cx="9601200" cy="873301"/>
            </a:xfrm>
            <a:prstGeom prst="rect">
              <a:avLst/>
            </a:prstGeom>
            <a:grpFill/>
            <a:ln w="12700">
              <a:noFill/>
              <a:miter lim="800000"/>
            </a:ln>
          </p:spPr>
          <p:txBody>
            <a:bodyPr wrap="none" lIns="188595" tIns="50292" rIns="188595" bIns="47137" anchor="ctr" anchorCtr="0"/>
            <a:lstStyle>
              <a:defPPr>
                <a:defRPr kern="1200" smtId="4294967295"/>
              </a:defPPr>
            </a:lstStyle>
            <a:p>
              <a:pPr marL="0" marR="0" lvl="0" indent="0" defTabSz="3233147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3600" b="1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Roboto" panose="02000000000000000000" pitchFamily="2" charset="0"/>
                  <a:ea typeface="Roboto" panose="02000000000000000000" pitchFamily="2" charset="0"/>
                  <a:cs typeface="Roboto" panose="02000000000000000000" pitchFamily="2" charset="0"/>
                </a:rPr>
                <a:t>Network Architecture Diagram</a:t>
              </a:r>
            </a:p>
          </p:txBody>
        </p:sp>
        <p:sp>
          <p:nvSpPr>
            <p:cNvPr id="57" name="Right Triangle 56">
              <a:extLst>
                <a:ext uri="{FF2B5EF4-FFF2-40B4-BE49-F238E27FC236}">
                  <a16:creationId xmlns:a16="http://schemas.microsoft.com/office/drawing/2014/main" id="{1874823A-C320-D847-9560-14F4130DFDE2}"/>
                </a:ext>
              </a:extLst>
            </p:cNvPr>
            <p:cNvSpPr/>
            <p:nvPr/>
          </p:nvSpPr>
          <p:spPr bwMode="auto">
            <a:xfrm flipH="1">
              <a:off x="42369380" y="7445854"/>
              <a:ext cx="912221" cy="857761"/>
            </a:xfrm>
            <a:prstGeom prst="rtTriangle">
              <a:avLst/>
            </a:prstGeom>
            <a:grpFill/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62865" tIns="31433" rIns="62865" bIns="31433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3233954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40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endParaRPr>
            </a:p>
          </p:txBody>
        </p:sp>
      </p:grpSp>
      <p:grpSp>
        <p:nvGrpSpPr>
          <p:cNvPr id="61" name="Group 60">
            <a:extLst>
              <a:ext uri="{FF2B5EF4-FFF2-40B4-BE49-F238E27FC236}">
                <a16:creationId xmlns:a16="http://schemas.microsoft.com/office/drawing/2014/main" id="{C07E6CC8-9DE7-0648-BD1C-C8E3333EFE3B}"/>
              </a:ext>
            </a:extLst>
          </p:cNvPr>
          <p:cNvGrpSpPr/>
          <p:nvPr/>
        </p:nvGrpSpPr>
        <p:grpSpPr>
          <a:xfrm>
            <a:off x="941620" y="31124873"/>
            <a:ext cx="13680000" cy="1008000"/>
            <a:chOff x="33682859" y="18103686"/>
            <a:chExt cx="9601200" cy="873301"/>
          </a:xfrm>
          <a:solidFill>
            <a:schemeClr val="accent5">
              <a:lumMod val="50000"/>
            </a:schemeClr>
          </a:solidFill>
        </p:grpSpPr>
        <p:sp>
          <p:nvSpPr>
            <p:cNvPr id="62" name="Rectangle 10">
              <a:extLst>
                <a:ext uri="{FF2B5EF4-FFF2-40B4-BE49-F238E27FC236}">
                  <a16:creationId xmlns:a16="http://schemas.microsoft.com/office/drawing/2014/main" id="{59D344B4-8A63-E14B-A3E0-62A03390209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682859" y="18103686"/>
              <a:ext cx="9601200" cy="873301"/>
            </a:xfrm>
            <a:prstGeom prst="rect">
              <a:avLst/>
            </a:prstGeom>
            <a:grpFill/>
            <a:ln w="12700">
              <a:noFill/>
              <a:miter lim="800000"/>
            </a:ln>
          </p:spPr>
          <p:txBody>
            <a:bodyPr wrap="none" lIns="188595" tIns="50292" rIns="188595" bIns="47137" anchor="ctr" anchorCtr="0"/>
            <a:lstStyle>
              <a:defPPr>
                <a:defRPr kern="1200" smtId="4294967295"/>
              </a:defPPr>
            </a:lstStyle>
            <a:p>
              <a:pPr marL="0" marR="0" lvl="0" indent="0" defTabSz="3233147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3600" b="1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Roboto" panose="02000000000000000000" pitchFamily="2" charset="0"/>
                  <a:ea typeface="Roboto" panose="02000000000000000000" pitchFamily="2" charset="0"/>
                  <a:cs typeface="Roboto" panose="02000000000000000000" pitchFamily="2" charset="0"/>
                </a:rPr>
                <a:t>Limitations and Future Scope</a:t>
              </a:r>
            </a:p>
          </p:txBody>
        </p:sp>
        <p:sp>
          <p:nvSpPr>
            <p:cNvPr id="63" name="Right Triangle 62">
              <a:extLst>
                <a:ext uri="{FF2B5EF4-FFF2-40B4-BE49-F238E27FC236}">
                  <a16:creationId xmlns:a16="http://schemas.microsoft.com/office/drawing/2014/main" id="{7E8B67B0-BA3B-6C4C-827B-C8BF31F2C383}"/>
                </a:ext>
              </a:extLst>
            </p:cNvPr>
            <p:cNvSpPr/>
            <p:nvPr/>
          </p:nvSpPr>
          <p:spPr bwMode="auto">
            <a:xfrm flipH="1">
              <a:off x="42369380" y="18119224"/>
              <a:ext cx="912221" cy="857761"/>
            </a:xfrm>
            <a:prstGeom prst="rtTriangle">
              <a:avLst/>
            </a:prstGeom>
            <a:grpFill/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62865" tIns="31433" rIns="62865" bIns="31433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3233954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40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endParaRPr>
            </a:p>
          </p:txBody>
        </p:sp>
      </p:grpSp>
      <p:grpSp>
        <p:nvGrpSpPr>
          <p:cNvPr id="64" name="Group 63">
            <a:extLst>
              <a:ext uri="{FF2B5EF4-FFF2-40B4-BE49-F238E27FC236}">
                <a16:creationId xmlns:a16="http://schemas.microsoft.com/office/drawing/2014/main" id="{FEB5AB83-CE40-F640-B0B5-E1C1105E1CF5}"/>
              </a:ext>
            </a:extLst>
          </p:cNvPr>
          <p:cNvGrpSpPr/>
          <p:nvPr/>
        </p:nvGrpSpPr>
        <p:grpSpPr>
          <a:xfrm>
            <a:off x="15783806" y="31124873"/>
            <a:ext cx="13679880" cy="1008000"/>
            <a:chOff x="33682859" y="18103686"/>
            <a:chExt cx="9601200" cy="873301"/>
          </a:xfrm>
          <a:solidFill>
            <a:schemeClr val="accent5">
              <a:lumMod val="50000"/>
            </a:schemeClr>
          </a:solidFill>
        </p:grpSpPr>
        <p:sp>
          <p:nvSpPr>
            <p:cNvPr id="65" name="Rectangle 10">
              <a:extLst>
                <a:ext uri="{FF2B5EF4-FFF2-40B4-BE49-F238E27FC236}">
                  <a16:creationId xmlns:a16="http://schemas.microsoft.com/office/drawing/2014/main" id="{7C77C938-E43F-C347-B9D7-DDBC4AFC836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682859" y="18103686"/>
              <a:ext cx="9601200" cy="873301"/>
            </a:xfrm>
            <a:prstGeom prst="rect">
              <a:avLst/>
            </a:prstGeom>
            <a:grpFill/>
            <a:ln w="12700">
              <a:noFill/>
              <a:miter lim="800000"/>
            </a:ln>
          </p:spPr>
          <p:txBody>
            <a:bodyPr wrap="none" lIns="188595" tIns="50292" rIns="188595" bIns="47137" anchor="ctr" anchorCtr="0"/>
            <a:lstStyle>
              <a:defPPr>
                <a:defRPr kern="1200" smtId="4294967295"/>
              </a:defPPr>
            </a:lstStyle>
            <a:p>
              <a:pPr marL="0" marR="0" lvl="0" indent="0" defTabSz="3233147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3600" b="1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Roboto" panose="02000000000000000000" pitchFamily="2" charset="0"/>
                  <a:ea typeface="Roboto" panose="02000000000000000000" pitchFamily="2" charset="0"/>
                  <a:cs typeface="Roboto" panose="02000000000000000000" pitchFamily="2" charset="0"/>
                </a:rPr>
                <a:t>Project Repositories</a:t>
              </a:r>
            </a:p>
          </p:txBody>
        </p:sp>
        <p:sp>
          <p:nvSpPr>
            <p:cNvPr id="66" name="Right Triangle 65">
              <a:extLst>
                <a:ext uri="{FF2B5EF4-FFF2-40B4-BE49-F238E27FC236}">
                  <a16:creationId xmlns:a16="http://schemas.microsoft.com/office/drawing/2014/main" id="{6AAA9DFA-94EC-444C-8082-17EDE88E6313}"/>
                </a:ext>
              </a:extLst>
            </p:cNvPr>
            <p:cNvSpPr/>
            <p:nvPr/>
          </p:nvSpPr>
          <p:spPr bwMode="auto">
            <a:xfrm flipH="1">
              <a:off x="42369380" y="18119224"/>
              <a:ext cx="912221" cy="857761"/>
            </a:xfrm>
            <a:prstGeom prst="rtTriangle">
              <a:avLst/>
            </a:prstGeom>
            <a:grpFill/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62865" tIns="31433" rIns="62865" bIns="31433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3233954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40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endParaRPr>
            </a:p>
          </p:txBody>
        </p:sp>
      </p:grpSp>
      <p:grpSp>
        <p:nvGrpSpPr>
          <p:cNvPr id="42" name="Group 41">
            <a:extLst>
              <a:ext uri="{FF2B5EF4-FFF2-40B4-BE49-F238E27FC236}">
                <a16:creationId xmlns:a16="http://schemas.microsoft.com/office/drawing/2014/main" id="{300531E3-A3D4-2144-A89B-6DF5C1CF5B10}"/>
              </a:ext>
            </a:extLst>
          </p:cNvPr>
          <p:cNvGrpSpPr/>
          <p:nvPr/>
        </p:nvGrpSpPr>
        <p:grpSpPr>
          <a:xfrm>
            <a:off x="15783686" y="5807398"/>
            <a:ext cx="13680000" cy="1006363"/>
            <a:chOff x="609600" y="7438427"/>
            <a:chExt cx="9601200" cy="966561"/>
          </a:xfrm>
          <a:solidFill>
            <a:schemeClr val="accent5">
              <a:lumMod val="50000"/>
            </a:schemeClr>
          </a:solidFill>
        </p:grpSpPr>
        <p:sp>
          <p:nvSpPr>
            <p:cNvPr id="43" name="Rectangle 10">
              <a:extLst>
                <a:ext uri="{FF2B5EF4-FFF2-40B4-BE49-F238E27FC236}">
                  <a16:creationId xmlns:a16="http://schemas.microsoft.com/office/drawing/2014/main" id="{2EB3BA20-49B0-5A45-A19F-32BA26078C1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09600" y="7438427"/>
              <a:ext cx="9601200" cy="966561"/>
            </a:xfrm>
            <a:prstGeom prst="rect">
              <a:avLst/>
            </a:prstGeom>
            <a:grpFill/>
            <a:ln w="12700">
              <a:noFill/>
              <a:miter lim="800000"/>
            </a:ln>
          </p:spPr>
          <p:txBody>
            <a:bodyPr wrap="none" lIns="188595" tIns="50292" rIns="188595" bIns="47137" anchor="ctr" anchorCtr="0"/>
            <a:lstStyle>
              <a:defPPr>
                <a:defRPr kern="1200" smtId="4294967295"/>
              </a:defPPr>
            </a:lstStyle>
            <a:p>
              <a:pPr marL="0" marR="0" lvl="0" indent="0" defTabSz="3233147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3600" b="1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Roboto" panose="02000000000000000000" pitchFamily="2" charset="0"/>
                  <a:ea typeface="Roboto" panose="02000000000000000000" pitchFamily="2" charset="0"/>
                  <a:cs typeface="Roboto" panose="02000000000000000000" pitchFamily="2" charset="0"/>
                </a:rPr>
                <a:t>Dataset Description</a:t>
              </a:r>
            </a:p>
          </p:txBody>
        </p:sp>
        <p:sp>
          <p:nvSpPr>
            <p:cNvPr id="44" name="Right Triangle 43">
              <a:extLst>
                <a:ext uri="{FF2B5EF4-FFF2-40B4-BE49-F238E27FC236}">
                  <a16:creationId xmlns:a16="http://schemas.microsoft.com/office/drawing/2014/main" id="{50CFA8FA-03D8-3846-B158-3363CA5DCD82}"/>
                </a:ext>
              </a:extLst>
            </p:cNvPr>
            <p:cNvSpPr/>
            <p:nvPr/>
          </p:nvSpPr>
          <p:spPr bwMode="auto">
            <a:xfrm flipH="1">
              <a:off x="9296399" y="7445854"/>
              <a:ext cx="912221" cy="857761"/>
            </a:xfrm>
            <a:prstGeom prst="rtTriangle">
              <a:avLst/>
            </a:prstGeom>
            <a:grpFill/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62865" tIns="31433" rIns="62865" bIns="31433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3233954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40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endParaRPr>
            </a:p>
          </p:txBody>
        </p:sp>
      </p:grpSp>
      <p:grpSp>
        <p:nvGrpSpPr>
          <p:cNvPr id="45" name="Group 44">
            <a:extLst>
              <a:ext uri="{FF2B5EF4-FFF2-40B4-BE49-F238E27FC236}">
                <a16:creationId xmlns:a16="http://schemas.microsoft.com/office/drawing/2014/main" id="{7A87763D-13F8-134A-AD17-F769529ED6B3}"/>
              </a:ext>
            </a:extLst>
          </p:cNvPr>
          <p:cNvGrpSpPr/>
          <p:nvPr/>
        </p:nvGrpSpPr>
        <p:grpSpPr>
          <a:xfrm>
            <a:off x="-27834" y="40043100"/>
            <a:ext cx="30175200" cy="2933700"/>
            <a:chOff x="0" y="0"/>
            <a:chExt cx="32918400" cy="5023147"/>
          </a:xfrm>
          <a:solidFill>
            <a:schemeClr val="accent5">
              <a:lumMod val="50000"/>
            </a:schemeClr>
          </a:solidFill>
        </p:grpSpPr>
        <p:sp>
          <p:nvSpPr>
            <p:cNvPr id="47" name="Rectangle 6">
              <a:extLst>
                <a:ext uri="{FF2B5EF4-FFF2-40B4-BE49-F238E27FC236}">
                  <a16:creationId xmlns:a16="http://schemas.microsoft.com/office/drawing/2014/main" id="{847D0425-A690-B048-BF6C-616F5CE6B46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0" y="0"/>
              <a:ext cx="32918400" cy="5023147"/>
            </a:xfrm>
            <a:prstGeom prst="rect">
              <a:avLst/>
            </a:prstGeom>
            <a:grpFill/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lIns="94298" tIns="47149" rIns="94298" bIns="47149" anchor="ctr"/>
            <a:lstStyle>
              <a:defPPr>
                <a:defRPr kern="1200" smtId="4294967295"/>
              </a:defPPr>
            </a:lstStyle>
            <a:p>
              <a:pPr algn="ctr" defTabSz="3233954"/>
              <a:endParaRPr lang="en-US" sz="3713" b="1" dirty="0">
                <a:solidFill>
                  <a:srgbClr val="FFC000"/>
                </a:solidFill>
                <a:latin typeface="Gill Sans" pitchFamily="34" charset="0"/>
              </a:endParaRPr>
            </a:p>
          </p:txBody>
        </p:sp>
        <p:sp>
          <p:nvSpPr>
            <p:cNvPr id="52" name="Right Triangle 51">
              <a:extLst>
                <a:ext uri="{FF2B5EF4-FFF2-40B4-BE49-F238E27FC236}">
                  <a16:creationId xmlns:a16="http://schemas.microsoft.com/office/drawing/2014/main" id="{0A0288EF-E738-1F4F-B3BE-A51D4754EFFF}"/>
                </a:ext>
              </a:extLst>
            </p:cNvPr>
            <p:cNvSpPr/>
            <p:nvPr/>
          </p:nvSpPr>
          <p:spPr bwMode="auto">
            <a:xfrm flipH="1">
              <a:off x="29718000" y="1822747"/>
              <a:ext cx="3200400" cy="3200400"/>
            </a:xfrm>
            <a:prstGeom prst="rtTriangle">
              <a:avLst/>
            </a:prstGeom>
            <a:grpFill/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vert="horz" wrap="square" lIns="62865" tIns="31433" rIns="62865" bIns="31433" numCol="1" rtlCol="0" anchor="t" anchorCtr="0" compatLnSpc="1">
              <a:prstTxWarp prst="textNoShape">
                <a:avLst/>
              </a:prstTxWarp>
            </a:bodyPr>
            <a:lstStyle/>
            <a:p>
              <a:pPr defTabSz="3233954"/>
              <a:endParaRPr lang="en-US" sz="2063" dirty="0">
                <a:solidFill>
                  <a:srgbClr val="FFC000"/>
                </a:solidFill>
              </a:endParaRPr>
            </a:p>
          </p:txBody>
        </p:sp>
        <p:grpSp>
          <p:nvGrpSpPr>
            <p:cNvPr id="54" name="Group 53">
              <a:extLst>
                <a:ext uri="{FF2B5EF4-FFF2-40B4-BE49-F238E27FC236}">
                  <a16:creationId xmlns:a16="http://schemas.microsoft.com/office/drawing/2014/main" id="{DBDF7801-EDF4-9845-A0CA-194785A55E13}"/>
                </a:ext>
              </a:extLst>
            </p:cNvPr>
            <p:cNvGrpSpPr/>
            <p:nvPr/>
          </p:nvGrpSpPr>
          <p:grpSpPr>
            <a:xfrm>
              <a:off x="152400" y="174064"/>
              <a:ext cx="3156576" cy="3200400"/>
              <a:chOff x="178404" y="148911"/>
              <a:chExt cx="3156576" cy="3210515"/>
            </a:xfrm>
            <a:grpFill/>
          </p:grpSpPr>
          <p:sp>
            <p:nvSpPr>
              <p:cNvPr id="58" name="Diagonal Stripe 57">
                <a:extLst>
                  <a:ext uri="{FF2B5EF4-FFF2-40B4-BE49-F238E27FC236}">
                    <a16:creationId xmlns:a16="http://schemas.microsoft.com/office/drawing/2014/main" id="{25507E12-93D8-8648-B184-A15A50F2AC5B}"/>
                  </a:ext>
                </a:extLst>
              </p:cNvPr>
              <p:cNvSpPr/>
              <p:nvPr/>
            </p:nvSpPr>
            <p:spPr bwMode="auto">
              <a:xfrm>
                <a:off x="178406" y="148911"/>
                <a:ext cx="3156574" cy="3210515"/>
              </a:xfrm>
              <a:prstGeom prst="diagStripe">
                <a:avLst>
                  <a:gd name="adj" fmla="val 88069"/>
                </a:avLst>
              </a:prstGeom>
              <a:grpFill/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vert="horz" wrap="square" lIns="62865" tIns="31433" rIns="62865" bIns="31433" numCol="1" rtlCol="0" anchor="t" anchorCtr="0" compatLnSpc="1">
                <a:prstTxWarp prst="textNoShape">
                  <a:avLst/>
                </a:prstTxWarp>
              </a:bodyPr>
              <a:lstStyle/>
              <a:p>
                <a:pPr defTabSz="3233954"/>
                <a:endParaRPr lang="en-US" sz="2063" dirty="0">
                  <a:solidFill>
                    <a:srgbClr val="FFC000"/>
                  </a:solidFill>
                </a:endParaRPr>
              </a:p>
            </p:txBody>
          </p:sp>
          <p:sp>
            <p:nvSpPr>
              <p:cNvPr id="60" name="Right Triangle 59">
                <a:extLst>
                  <a:ext uri="{FF2B5EF4-FFF2-40B4-BE49-F238E27FC236}">
                    <a16:creationId xmlns:a16="http://schemas.microsoft.com/office/drawing/2014/main" id="{5DF021BC-B622-BC48-9396-2F978EE2B376}"/>
                  </a:ext>
                </a:extLst>
              </p:cNvPr>
              <p:cNvSpPr/>
              <p:nvPr/>
            </p:nvSpPr>
            <p:spPr bwMode="auto">
              <a:xfrm rot="5400000">
                <a:off x="153015" y="174301"/>
                <a:ext cx="2457450" cy="2406671"/>
              </a:xfrm>
              <a:prstGeom prst="rtTriangle">
                <a:avLst/>
              </a:prstGeom>
              <a:grpFill/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vert="horz" wrap="square" lIns="62865" tIns="31433" rIns="62865" bIns="31433" numCol="1" rtlCol="0" anchor="t" anchorCtr="0" compatLnSpc="1">
                <a:prstTxWarp prst="textNoShape">
                  <a:avLst/>
                </a:prstTxWarp>
              </a:bodyPr>
              <a:lstStyle/>
              <a:p>
                <a:pPr defTabSz="3233954"/>
                <a:endParaRPr lang="en-US" sz="2063" dirty="0">
                  <a:solidFill>
                    <a:srgbClr val="FFC000"/>
                  </a:solidFill>
                </a:endParaRPr>
              </a:p>
            </p:txBody>
          </p:sp>
        </p:grpSp>
      </p:grpSp>
      <p:sp>
        <p:nvSpPr>
          <p:cNvPr id="3" name="Rectangle 2"/>
          <p:cNvSpPr/>
          <p:nvPr/>
        </p:nvSpPr>
        <p:spPr>
          <a:xfrm>
            <a:off x="1389056" y="40767308"/>
            <a:ext cx="27397087" cy="144655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defTabSz="2585841">
              <a:spcBef>
                <a:spcPct val="20000"/>
              </a:spcBef>
              <a:defRPr/>
            </a:pPr>
            <a:r>
              <a:rPr lang="en-US" sz="4000" b="1" dirty="0">
                <a:solidFill>
                  <a:srgbClr val="FFC000"/>
                </a:solidFill>
                <a:latin typeface="Roboto Medium" panose="02000000000000000000" pitchFamily="2" charset="0"/>
                <a:ea typeface="Roboto Medium" panose="02000000000000000000" pitchFamily="2" charset="0"/>
                <a:cs typeface="Roboto Medium" panose="02000000000000000000" pitchFamily="2" charset="0"/>
              </a:rPr>
              <a:t>Reviewed and Edited By: Abhisek Gour, Assistant Professor</a:t>
            </a:r>
          </a:p>
          <a:p>
            <a:pPr algn="ctr" defTabSz="2585841">
              <a:spcBef>
                <a:spcPct val="20000"/>
              </a:spcBef>
              <a:defRPr/>
            </a:pPr>
            <a:r>
              <a:rPr lang="en-US" sz="4000" b="1" dirty="0">
                <a:solidFill>
                  <a:srgbClr val="FFC000"/>
                </a:solidFill>
                <a:latin typeface="Roboto Medium" panose="02000000000000000000" pitchFamily="2" charset="0"/>
                <a:ea typeface="Roboto Medium" panose="02000000000000000000" pitchFamily="2" charset="0"/>
                <a:cs typeface="Roboto Medium" panose="02000000000000000000" pitchFamily="2" charset="0"/>
              </a:rPr>
              <a:t>Department of Computer Science and Engineering, MBM University, Jodhpur</a:t>
            </a:r>
          </a:p>
        </p:txBody>
      </p:sp>
      <p:sp>
        <p:nvSpPr>
          <p:cNvPr id="21" name="Rectangle 20"/>
          <p:cNvSpPr/>
          <p:nvPr/>
        </p:nvSpPr>
        <p:spPr>
          <a:xfrm flipH="1" flipV="1">
            <a:off x="34817536" y="10223525"/>
            <a:ext cx="45719" cy="393653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just"/>
            <a:endParaRPr lang="en-US" sz="2800" dirty="0"/>
          </a:p>
        </p:txBody>
      </p:sp>
      <p:sp>
        <p:nvSpPr>
          <p:cNvPr id="14" name="Rectangle 13"/>
          <p:cNvSpPr/>
          <p:nvPr/>
        </p:nvSpPr>
        <p:spPr>
          <a:xfrm>
            <a:off x="1283429" y="34570802"/>
            <a:ext cx="14205447" cy="523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800" dirty="0"/>
              <a:t> 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94661" y="32498451"/>
            <a:ext cx="13688780" cy="69865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US" sz="2800" b="1" dirty="0"/>
              <a:t>Limitations :</a:t>
            </a:r>
          </a:p>
          <a:p>
            <a:pPr marL="914400" lvl="1" indent="-457200" algn="just">
              <a:buFont typeface="Arial" panose="020B0604020202020204" pitchFamily="34" charset="0"/>
              <a:buChar char="•"/>
            </a:pPr>
            <a:r>
              <a:rPr lang="en-US" sz="2800" dirty="0"/>
              <a:t>The dataset size is relatively limited , which may affect the generalization of the model.</a:t>
            </a:r>
          </a:p>
          <a:p>
            <a:pPr marL="914400" lvl="1" indent="-457200" algn="just">
              <a:buFont typeface="Arial" panose="020B0604020202020204" pitchFamily="34" charset="0"/>
              <a:buChar char="•"/>
            </a:pPr>
            <a:r>
              <a:rPr lang="en-US" sz="2800" dirty="0"/>
              <a:t>Sensor data can contain noise and inconsistencies due to different phone placements and different roads.</a:t>
            </a:r>
          </a:p>
          <a:p>
            <a:pPr marL="914400" lvl="1" indent="-457200" algn="just">
              <a:buFont typeface="Arial" panose="020B0604020202020204" pitchFamily="34" charset="0"/>
              <a:buChar char="•"/>
            </a:pPr>
            <a:r>
              <a:rPr lang="en-US" sz="2800" dirty="0"/>
              <a:t>Overlapping characteristics between driving styles (e.g., moderate and Smooth) can lead to misclassification.</a:t>
            </a:r>
          </a:p>
          <a:p>
            <a:pPr marL="914400" lvl="1" indent="-457200" algn="just">
              <a:buFont typeface="Arial" panose="020B0604020202020204" pitchFamily="34" charset="0"/>
              <a:buChar char="•"/>
            </a:pPr>
            <a:r>
              <a:rPr lang="en-US" sz="2800" dirty="0"/>
              <a:t>Also , Hardware differences across smartphones may lead to inconsistent readings.</a:t>
            </a:r>
          </a:p>
          <a:p>
            <a:pPr marL="914400" lvl="1" indent="-457200" algn="just">
              <a:buFont typeface="Arial" panose="020B0604020202020204" pitchFamily="34" charset="0"/>
              <a:buChar char="•"/>
            </a:pPr>
            <a:r>
              <a:rPr lang="en-US" sz="2800" dirty="0"/>
              <a:t>The Model depends only on motion sensor data and doesn’t include additional features like road conditions and GPS speed.</a:t>
            </a:r>
          </a:p>
          <a:p>
            <a:pPr marL="914400" lvl="1" indent="-457200" algn="just">
              <a:buFont typeface="Arial" panose="020B0604020202020204" pitchFamily="34" charset="0"/>
              <a:buChar char="•"/>
            </a:pPr>
            <a:r>
              <a:rPr lang="en-US" sz="2800" dirty="0"/>
              <a:t>The model may not perform well for unseen riders or extreme driving conditions.</a:t>
            </a:r>
          </a:p>
          <a:p>
            <a:pPr marL="914400" lvl="1" indent="-457200" algn="just">
              <a:buFont typeface="Arial" panose="020B0604020202020204" pitchFamily="34" charset="0"/>
              <a:buChar char="•"/>
            </a:pPr>
            <a:endParaRPr lang="en-US" sz="2800" b="1" dirty="0"/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US" sz="2800" b="1" dirty="0"/>
              <a:t>Future Scope :</a:t>
            </a:r>
          </a:p>
          <a:p>
            <a:pPr marL="914400" lvl="1" indent="-457200" algn="just">
              <a:buFont typeface="Arial" panose="020B0604020202020204" pitchFamily="34" charset="0"/>
              <a:buChar char="•"/>
            </a:pPr>
            <a:r>
              <a:rPr lang="en-US" sz="2800" dirty="0"/>
              <a:t>Expand the dataset by including more riders, vehicles and different road conditions.</a:t>
            </a:r>
          </a:p>
          <a:p>
            <a:pPr marL="914400" lvl="1" indent="-457200" algn="just">
              <a:buFont typeface="Arial" panose="020B0604020202020204" pitchFamily="34" charset="0"/>
              <a:buChar char="•"/>
            </a:pPr>
            <a:r>
              <a:rPr lang="en-US" sz="2800" dirty="0"/>
              <a:t>Integrated additional features like GPS speed , location and road type prediction.</a:t>
            </a:r>
          </a:p>
          <a:p>
            <a:pPr marL="914400" lvl="1" indent="-457200" algn="just">
              <a:buFont typeface="Arial" panose="020B0604020202020204" pitchFamily="34" charset="0"/>
              <a:buChar char="•"/>
            </a:pPr>
            <a:r>
              <a:rPr lang="en-US" sz="2800" dirty="0"/>
              <a:t>Develop a mobile applications for live driving behavior for monitoring the driver speed. Also, will include driver alert systems to warn users about risky driving behavior.</a:t>
            </a:r>
          </a:p>
        </p:txBody>
      </p:sp>
      <p:sp>
        <p:nvSpPr>
          <p:cNvPr id="59" name="Rectangle 10">
            <a:extLst>
              <a:ext uri="{FF2B5EF4-FFF2-40B4-BE49-F238E27FC236}">
                <a16:creationId xmlns:a16="http://schemas.microsoft.com/office/drawing/2014/main" id="{E28B0BE7-706A-C04E-9D19-F86AB2E26CD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783686" y="20393560"/>
            <a:ext cx="13680000" cy="1008000"/>
          </a:xfrm>
          <a:prstGeom prst="rect">
            <a:avLst/>
          </a:prstGeom>
          <a:solidFill>
            <a:schemeClr val="accent5">
              <a:lumMod val="50000"/>
            </a:schemeClr>
          </a:solidFill>
          <a:ln w="12700">
            <a:noFill/>
            <a:miter lim="800000"/>
          </a:ln>
        </p:spPr>
        <p:txBody>
          <a:bodyPr wrap="none" lIns="188595" tIns="50292" rIns="188595" bIns="47137" anchor="ctr" anchorCtr="0"/>
          <a:lstStyle>
            <a:defPPr>
              <a:defRPr kern="1200" smtId="4294967295"/>
            </a:defPPr>
          </a:lstStyle>
          <a:p>
            <a:pPr marL="0" marR="0" lvl="0" indent="0" defTabSz="3233147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0" cap="none" spc="0" normalizeH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Model Validation and Discussion</a:t>
            </a:r>
            <a:endParaRPr kumimoji="0" lang="en-US" sz="3600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46" name="Rectangle 10">
            <a:extLst>
              <a:ext uri="{FF2B5EF4-FFF2-40B4-BE49-F238E27FC236}">
                <a16:creationId xmlns:a16="http://schemas.microsoft.com/office/drawing/2014/main" id="{E28B0BE7-706A-C04E-9D19-F86AB2E26CDB}"/>
              </a:ext>
            </a:extLst>
          </p:cNvPr>
          <p:cNvSpPr>
            <a:spLocks noChangeArrowheads="1"/>
          </p:cNvSpPr>
          <p:nvPr/>
        </p:nvSpPr>
        <p:spPr bwMode="auto">
          <a:xfrm>
            <a:off x="937327" y="20396559"/>
            <a:ext cx="13679880" cy="1008000"/>
          </a:xfrm>
          <a:prstGeom prst="rect">
            <a:avLst/>
          </a:prstGeom>
          <a:solidFill>
            <a:schemeClr val="accent5">
              <a:lumMod val="50000"/>
            </a:schemeClr>
          </a:solidFill>
          <a:ln w="12700">
            <a:noFill/>
            <a:miter lim="800000"/>
          </a:ln>
        </p:spPr>
        <p:txBody>
          <a:bodyPr wrap="none" lIns="188595" tIns="50292" rIns="188595" bIns="47137" anchor="ctr" anchorCtr="0"/>
          <a:lstStyle>
            <a:defPPr>
              <a:defRPr kern="1200" smtId="4294967295"/>
            </a:defPPr>
          </a:lstStyle>
          <a:p>
            <a:pPr lvl="0" defTabSz="3233147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3600" b="1" kern="0" noProof="0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Model Training</a:t>
            </a:r>
            <a:endParaRPr kumimoji="0" lang="en-US" sz="3600" b="1" i="0" u="none" strike="noStrike" kern="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949573" y="21736988"/>
            <a:ext cx="13672873" cy="526297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US" sz="2800" dirty="0"/>
              <a:t>Raw accelerometer and gyroscope sensor readings were collected and Standardized.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US" sz="2800" dirty="0"/>
              <a:t>Feature Engineering was performed by computing acceleration magnitude and gyroscope magnitude , resulting in a total of </a:t>
            </a:r>
            <a:r>
              <a:rPr lang="en-US" sz="2800" b="1" dirty="0"/>
              <a:t>8 input features</a:t>
            </a:r>
            <a:r>
              <a:rPr lang="en-US" sz="2800" dirty="0"/>
              <a:t>.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US" sz="2800" dirty="0"/>
              <a:t>Split dataset into </a:t>
            </a:r>
            <a:r>
              <a:rPr lang="en-US" sz="2800" b="1" dirty="0"/>
              <a:t>training and validation sets</a:t>
            </a:r>
            <a:r>
              <a:rPr lang="en-US" sz="2800" dirty="0"/>
              <a:t> for performance evaluation.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US" sz="2800" dirty="0"/>
              <a:t>The dataset is Normalized using </a:t>
            </a:r>
            <a:r>
              <a:rPr lang="en-US" sz="2800" dirty="0" err="1"/>
              <a:t>StandardScaler</a:t>
            </a:r>
            <a:r>
              <a:rPr lang="en-US" sz="2800" dirty="0"/>
              <a:t>.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US" sz="2800" dirty="0"/>
              <a:t>A CNN + Bidirectional LSTM architecture was used , where CNN layers extract local motion patterns and LSTM layers learn temporal dependencies.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US" sz="2800" dirty="0"/>
              <a:t>Trained for </a:t>
            </a:r>
            <a:r>
              <a:rPr lang="en-US" sz="2800" b="1" dirty="0"/>
              <a:t>20 epochs</a:t>
            </a:r>
            <a:r>
              <a:rPr lang="en-US" sz="2800" dirty="0"/>
              <a:t> with a batch size of </a:t>
            </a:r>
            <a:r>
              <a:rPr lang="en-US" sz="2800" b="1" dirty="0"/>
              <a:t>64 and </a:t>
            </a:r>
            <a:r>
              <a:rPr lang="en-US" sz="2800" dirty="0"/>
              <a:t>learning rate of </a:t>
            </a:r>
            <a:r>
              <a:rPr lang="en-US" sz="2800" b="1" dirty="0"/>
              <a:t>0.001.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US" sz="2800" dirty="0"/>
              <a:t>The Model was trained using </a:t>
            </a:r>
            <a:r>
              <a:rPr lang="en-US" sz="2800" b="1" dirty="0"/>
              <a:t>Adam Optimizer </a:t>
            </a:r>
            <a:r>
              <a:rPr lang="en-US" sz="2800" dirty="0"/>
              <a:t>and </a:t>
            </a:r>
            <a:r>
              <a:rPr lang="en-US" sz="2800" b="1" dirty="0"/>
              <a:t>categorical cross entropy </a:t>
            </a:r>
            <a:r>
              <a:rPr lang="en-US" sz="2800" dirty="0"/>
              <a:t>loss function.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US" sz="2800" dirty="0"/>
              <a:t>Applied </a:t>
            </a:r>
            <a:r>
              <a:rPr lang="en-US" sz="2800" b="1" dirty="0"/>
              <a:t>Dropout layers </a:t>
            </a:r>
            <a:r>
              <a:rPr lang="en-US" sz="2800" dirty="0"/>
              <a:t>between</a:t>
            </a:r>
            <a:r>
              <a:rPr lang="en-US" sz="2800" b="1" dirty="0"/>
              <a:t> CNN, LSTM </a:t>
            </a:r>
            <a:r>
              <a:rPr lang="en-US" sz="2800" dirty="0"/>
              <a:t>and</a:t>
            </a:r>
            <a:r>
              <a:rPr lang="en-US" sz="2800" b="1" dirty="0"/>
              <a:t> dense layers </a:t>
            </a:r>
            <a:r>
              <a:rPr lang="en-US" sz="2800" dirty="0"/>
              <a:t>to reduce overfitting.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US" sz="2800" dirty="0"/>
              <a:t>Early stopping was also applied to monitor validation loss and restore the best model weights during </a:t>
            </a:r>
            <a:r>
              <a:rPr lang="en-US" sz="2800" dirty="0" err="1"/>
              <a:t>trainning</a:t>
            </a:r>
            <a:r>
              <a:rPr lang="en-US" sz="2800" dirty="0"/>
              <a:t>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5780699" y="21736988"/>
            <a:ext cx="13642680" cy="440120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US" sz="2800" dirty="0"/>
              <a:t>The model was evaluated using a held-out test dataset consisting of 20% of the samples.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US" sz="2800" dirty="0"/>
              <a:t>Model Predictions were generated with the help of </a:t>
            </a:r>
            <a:r>
              <a:rPr lang="en-US" sz="2800" dirty="0" err="1"/>
              <a:t>Softmax</a:t>
            </a:r>
            <a:r>
              <a:rPr lang="en-US" sz="2800" dirty="0"/>
              <a:t>  Output layer.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US" sz="2800" dirty="0"/>
              <a:t>A confusion matrix was plotted to analyze class-wise prediction performance.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US" sz="2800" dirty="0"/>
              <a:t>Precision , Recall and F-1 score were computed using the classification report to evaluate class imbalance overfitting.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US" sz="2800" dirty="0"/>
              <a:t>Compared with other students models like LSTM or GRU , the CNN + Bi-LSTM architecture provided improved stability and better classification accuracy.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endParaRPr lang="en-US" sz="2800" dirty="0"/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US" sz="2800" dirty="0"/>
              <a:t>Performance Results :</a:t>
            </a:r>
          </a:p>
          <a:p>
            <a:pPr marL="914400" lvl="1" indent="-457200" algn="just">
              <a:buFont typeface="Arial" panose="020B0604020202020204" pitchFamily="34" charset="0"/>
              <a:buChar char="•"/>
            </a:pPr>
            <a:r>
              <a:rPr lang="en-US" sz="2800" b="1" dirty="0"/>
              <a:t>Overall Accuracy of LSTM Model:</a:t>
            </a:r>
            <a:r>
              <a:rPr lang="en-US" sz="2800" dirty="0"/>
              <a:t> </a:t>
            </a:r>
            <a:r>
              <a:rPr lang="en-US" sz="2800" b="1" dirty="0"/>
              <a:t>88%                                                                                           </a:t>
            </a:r>
          </a:p>
        </p:txBody>
      </p:sp>
      <p:sp>
        <p:nvSpPr>
          <p:cNvPr id="30" name="Rectangle 29"/>
          <p:cNvSpPr/>
          <p:nvPr/>
        </p:nvSpPr>
        <p:spPr>
          <a:xfrm>
            <a:off x="15509933" y="8857288"/>
            <a:ext cx="15641011" cy="181588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endParaRPr lang="en-US" sz="2800" b="1" dirty="0"/>
          </a:p>
          <a:p>
            <a:endParaRPr lang="en-US" sz="2800" b="1" dirty="0"/>
          </a:p>
          <a:p>
            <a:endParaRPr lang="en-US" sz="2800" b="1" dirty="0"/>
          </a:p>
          <a:p>
            <a:endParaRPr lang="en-US" sz="2800" dirty="0"/>
          </a:p>
        </p:txBody>
      </p:sp>
      <p:sp>
        <p:nvSpPr>
          <p:cNvPr id="12" name="Flowchart: Process 11"/>
          <p:cNvSpPr/>
          <p:nvPr/>
        </p:nvSpPr>
        <p:spPr>
          <a:xfrm>
            <a:off x="-140676" y="-62009"/>
            <a:ext cx="30288042" cy="5597132"/>
          </a:xfrm>
          <a:prstGeom prst="flowChartProcess">
            <a:avLst/>
          </a:prstGeom>
          <a:solidFill>
            <a:srgbClr val="20386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 algn="ctr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accent5">
                    <a:lumMod val="50000"/>
                  </a:schemeClr>
                </a:solidFill>
              </a:rPr>
              <a:t>z</a:t>
            </a:r>
          </a:p>
        </p:txBody>
      </p:sp>
      <p:sp>
        <p:nvSpPr>
          <p:cNvPr id="40" name="Flowchart: Process 39"/>
          <p:cNvSpPr/>
          <p:nvPr/>
        </p:nvSpPr>
        <p:spPr>
          <a:xfrm flipH="1" flipV="1">
            <a:off x="-10371308" y="8829693"/>
            <a:ext cx="45719" cy="45719"/>
          </a:xfrm>
          <a:prstGeom prst="flowChartProcess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8" name="Rectangle 27"/>
          <p:cNvSpPr/>
          <p:nvPr/>
        </p:nvSpPr>
        <p:spPr>
          <a:xfrm>
            <a:off x="994660" y="7177885"/>
            <a:ext cx="13870201" cy="61247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/>
              <a:t>Monitoring a driving behavior is Essential for Improving the </a:t>
            </a:r>
            <a:r>
              <a:rPr lang="en-US" sz="2800" b="1" dirty="0"/>
              <a:t>Road safety</a:t>
            </a:r>
            <a:r>
              <a:rPr lang="en-US" sz="2800" dirty="0"/>
              <a:t> in two-wheeler.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/>
              <a:t>Modern Smartphones has motion sensors such as </a:t>
            </a:r>
            <a:r>
              <a:rPr lang="en-US" sz="2800" b="1" dirty="0"/>
              <a:t>Accelerometers</a:t>
            </a:r>
            <a:r>
              <a:rPr lang="en-US" sz="2800" dirty="0"/>
              <a:t> and </a:t>
            </a:r>
            <a:r>
              <a:rPr lang="en-US" sz="2800" b="1" dirty="0"/>
              <a:t>Gyroscopes</a:t>
            </a:r>
            <a:r>
              <a:rPr lang="en-US" sz="2800" dirty="0"/>
              <a:t> that can Captures real–time riding dynamics.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/>
              <a:t>These Sensors can record variations </a:t>
            </a:r>
            <a:r>
              <a:rPr lang="en-US" sz="2800" b="1" dirty="0"/>
              <a:t>in acceleration, braking and turning</a:t>
            </a:r>
            <a:r>
              <a:rPr lang="en-US" sz="2800" dirty="0"/>
              <a:t> which shows the driving style of an Individual.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/>
              <a:t>These type of data is known as temporal motion data and also </a:t>
            </a:r>
            <a:r>
              <a:rPr lang="en-US" sz="2800" b="1" dirty="0"/>
              <a:t>Long Short-Term Memory (LSTM)</a:t>
            </a:r>
            <a:r>
              <a:rPr lang="en-US" sz="2800" dirty="0"/>
              <a:t> Model  are capable of Learning Long-term dependencies on time – series Signals.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/>
              <a:t> In this Project, a CNN + Bi LSTM Model is developed to classify driving behavior into 5 different categories such as </a:t>
            </a:r>
            <a:r>
              <a:rPr lang="en-US" sz="2800" b="1" dirty="0"/>
              <a:t>Aggressive, Rush, Moderate, Smooth and Safe</a:t>
            </a:r>
            <a:r>
              <a:rPr lang="en-US" sz="2800" dirty="0"/>
              <a:t>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/>
              <a:t>A driving score is generated to quantify riders behavior and risk level.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/>
              <a:t>The System Overall helps evaluate and monitoring driving performance in </a:t>
            </a:r>
            <a:r>
              <a:rPr lang="en-US" sz="2800"/>
              <a:t>near real-time using </a:t>
            </a:r>
            <a:r>
              <a:rPr lang="en-US" sz="2800" dirty="0"/>
              <a:t>smartphone senor data.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sz="2800" dirty="0"/>
          </a:p>
          <a:p>
            <a:r>
              <a:rPr lang="en-US" sz="2800" dirty="0"/>
              <a:t>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461988" y="443298"/>
            <a:ext cx="19463868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7200" b="1" dirty="0">
                <a:solidFill>
                  <a:schemeClr val="accent4"/>
                </a:solidFill>
              </a:rPr>
              <a:t>Driving Risk Prediction using CNN-</a:t>
            </a:r>
            <a:r>
              <a:rPr lang="en-US" sz="7200" b="1" dirty="0" err="1">
                <a:solidFill>
                  <a:schemeClr val="accent4"/>
                </a:solidFill>
              </a:rPr>
              <a:t>BiLSTM</a:t>
            </a:r>
            <a:r>
              <a:rPr lang="en-US" sz="7200" b="1" dirty="0">
                <a:solidFill>
                  <a:schemeClr val="accent4"/>
                </a:solidFill>
              </a:rPr>
              <a:t> on Sensor Data</a:t>
            </a:r>
          </a:p>
        </p:txBody>
      </p:sp>
      <p:sp>
        <p:nvSpPr>
          <p:cNvPr id="41" name="Rectangle 40"/>
          <p:cNvSpPr/>
          <p:nvPr/>
        </p:nvSpPr>
        <p:spPr>
          <a:xfrm>
            <a:off x="8985775" y="2265392"/>
            <a:ext cx="13048316" cy="330859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spcAft>
                <a:spcPts val="1200"/>
              </a:spcAft>
            </a:pPr>
            <a:endParaRPr lang="en-US" sz="3600" dirty="0">
              <a:solidFill>
                <a:schemeClr val="bg2"/>
              </a:solidFill>
            </a:endParaRPr>
          </a:p>
          <a:p>
            <a:pPr algn="ctr">
              <a:spcAft>
                <a:spcPts val="1200"/>
              </a:spcAft>
            </a:pPr>
            <a:r>
              <a:rPr lang="en-US" sz="3600" dirty="0">
                <a:solidFill>
                  <a:schemeClr val="bg2"/>
                </a:solidFill>
              </a:rPr>
              <a:t>Developed and Prepared by:</a:t>
            </a:r>
          </a:p>
          <a:p>
            <a:pPr algn="ctr"/>
            <a:r>
              <a:rPr lang="en-US" sz="4400" b="1" dirty="0">
                <a:solidFill>
                  <a:schemeClr val="accent4"/>
                </a:solidFill>
              </a:rPr>
              <a:t>Daniyal Aftab</a:t>
            </a:r>
          </a:p>
          <a:p>
            <a:pPr algn="ctr">
              <a:spcAft>
                <a:spcPts val="600"/>
              </a:spcAft>
            </a:pPr>
            <a:r>
              <a:rPr lang="en-US" sz="3600" dirty="0">
                <a:solidFill>
                  <a:schemeClr val="bg2"/>
                </a:solidFill>
              </a:rPr>
              <a:t>Third Year, B.E. (Artificial Intelligence &amp; Data Science)</a:t>
            </a:r>
          </a:p>
          <a:p>
            <a:pPr algn="ctr"/>
            <a:r>
              <a:rPr lang="en-US" sz="3200" dirty="0">
                <a:solidFill>
                  <a:schemeClr val="bg2"/>
                </a:solidFill>
              </a:rPr>
              <a:t>daniyalaftab4786@gmail.com/7413813740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3A2524E9-00FD-4EEB-90E3-52027B1AD2D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94684" y="407848"/>
            <a:ext cx="3528867" cy="3528867"/>
          </a:xfrm>
          <a:prstGeom prst="rect">
            <a:avLst/>
          </a:prstGeom>
        </p:spPr>
      </p:pic>
      <p:sp>
        <p:nvSpPr>
          <p:cNvPr id="69" name="Rectangle 68">
            <a:extLst>
              <a:ext uri="{FF2B5EF4-FFF2-40B4-BE49-F238E27FC236}">
                <a16:creationId xmlns:a16="http://schemas.microsoft.com/office/drawing/2014/main" id="{8ADDE026-6E07-4086-B173-D56379F460D4}"/>
              </a:ext>
            </a:extLst>
          </p:cNvPr>
          <p:cNvSpPr/>
          <p:nvPr/>
        </p:nvSpPr>
        <p:spPr>
          <a:xfrm>
            <a:off x="15780699" y="7179478"/>
            <a:ext cx="13672873" cy="784830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/>
              <a:t>The dataset consists of </a:t>
            </a:r>
            <a:r>
              <a:rPr lang="en-US" sz="2800" b="1" dirty="0"/>
              <a:t>time-series sensor data</a:t>
            </a:r>
            <a:r>
              <a:rPr lang="en-US" sz="2800" dirty="0"/>
              <a:t> collected using an mobile applications that records motion sensor readings.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/>
              <a:t>Each sample includes readings from 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US" sz="2800" b="1" dirty="0"/>
              <a:t>Accelerometer (X, Y, Z)</a:t>
            </a:r>
            <a:r>
              <a:rPr lang="en-US" sz="2800" dirty="0"/>
              <a:t> – captures linear motion 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US" sz="2800" b="1" dirty="0"/>
              <a:t>Gyroscope (X, Y, Z)</a:t>
            </a:r>
            <a:r>
              <a:rPr lang="en-US" sz="2800" dirty="0"/>
              <a:t> – captures rotational motion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/>
              <a:t>Data was collected under different conditions including multiple riders , different vehicles and varying driving speeds.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/>
              <a:t> A total of </a:t>
            </a:r>
            <a:r>
              <a:rPr lang="en-US" sz="2800" b="1" dirty="0"/>
              <a:t>8 features</a:t>
            </a:r>
            <a:r>
              <a:rPr lang="en-US" sz="2800" dirty="0"/>
              <a:t> are used to represent vehicle dynamics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/>
              <a:t>The continuous time-series data was segmented using a </a:t>
            </a:r>
            <a:r>
              <a:rPr lang="en-US" sz="2800" b="1" dirty="0"/>
              <a:t>sliding window approach</a:t>
            </a:r>
            <a:r>
              <a:rPr lang="en-US" sz="2800" dirty="0"/>
              <a:t>: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US" sz="2800" dirty="0"/>
              <a:t>Window size: </a:t>
            </a:r>
            <a:r>
              <a:rPr lang="en-US" sz="2800" b="1" dirty="0"/>
              <a:t>120 timesteps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US" sz="2800" dirty="0"/>
              <a:t>Step size: </a:t>
            </a:r>
            <a:r>
              <a:rPr lang="en-US" sz="2800" b="1" dirty="0"/>
              <a:t>20 timesteps</a:t>
            </a:r>
            <a:endParaRPr lang="en-US" sz="2800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/>
              <a:t>The dataset was split into </a:t>
            </a:r>
            <a:r>
              <a:rPr lang="en-US" sz="2800" b="1" dirty="0"/>
              <a:t>80% training </a:t>
            </a:r>
            <a:r>
              <a:rPr lang="en-US" sz="2800" dirty="0"/>
              <a:t>and </a:t>
            </a:r>
            <a:r>
              <a:rPr lang="en-US" sz="2800" b="1" dirty="0"/>
              <a:t>20% testing </a:t>
            </a:r>
            <a:r>
              <a:rPr lang="en-US" sz="2800" dirty="0"/>
              <a:t>and additional </a:t>
            </a:r>
            <a:r>
              <a:rPr lang="en-US" sz="2800" b="1" dirty="0"/>
              <a:t>15% for validation split from training data</a:t>
            </a:r>
            <a:r>
              <a:rPr lang="en-US" sz="2800" dirty="0"/>
              <a:t> for model evaluation.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/>
              <a:t>The final dataset represents real–world driving behavior for LSTM-based Classification.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sz="2800" dirty="0"/>
          </a:p>
          <a:p>
            <a:pPr marL="914400" lvl="1" indent="-457200">
              <a:buFont typeface="Arial" panose="020B0604020202020204" pitchFamily="34" charset="0"/>
              <a:buChar char="•"/>
            </a:pPr>
            <a:endParaRPr lang="en-US" sz="2800" b="1" dirty="0"/>
          </a:p>
          <a:p>
            <a:pPr marL="914400" lvl="1" indent="-457200">
              <a:buFont typeface="Arial" panose="020B0604020202020204" pitchFamily="34" charset="0"/>
              <a:buChar char="•"/>
            </a:pPr>
            <a:endParaRPr lang="en-US" sz="2800" b="1" dirty="0"/>
          </a:p>
          <a:p>
            <a:pPr marL="914400" lvl="1" indent="-457200">
              <a:buFont typeface="Arial" panose="020B0604020202020204" pitchFamily="34" charset="0"/>
              <a:buChar char="•"/>
            </a:pPr>
            <a:endParaRPr lang="en-US" sz="2800" b="1" dirty="0"/>
          </a:p>
        </p:txBody>
      </p:sp>
      <p:sp>
        <p:nvSpPr>
          <p:cNvPr id="50" name="Rectangle: Rounded Corners 49">
            <a:extLst>
              <a:ext uri="{FF2B5EF4-FFF2-40B4-BE49-F238E27FC236}">
                <a16:creationId xmlns:a16="http://schemas.microsoft.com/office/drawing/2014/main" id="{6F8A6F46-7ECA-482B-BB43-C2C52F3461A1}"/>
              </a:ext>
            </a:extLst>
          </p:cNvPr>
          <p:cNvSpPr/>
          <p:nvPr/>
        </p:nvSpPr>
        <p:spPr>
          <a:xfrm>
            <a:off x="22423390" y="14718890"/>
            <a:ext cx="7048199" cy="5432028"/>
          </a:xfrm>
          <a:prstGeom prst="roundRect">
            <a:avLst/>
          </a:prstGeom>
          <a:solidFill>
            <a:schemeClr val="accent6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48CACB0E-3797-4CED-B035-5D63B1110B13}"/>
              </a:ext>
            </a:extLst>
          </p:cNvPr>
          <p:cNvSpPr txBox="1"/>
          <p:nvPr/>
        </p:nvSpPr>
        <p:spPr>
          <a:xfrm>
            <a:off x="22890133" y="15520444"/>
            <a:ext cx="6469905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chemeClr val="bg1"/>
                </a:solidFill>
              </a:rPr>
              <a:t>Total No. of Parameters: ~386,437</a:t>
            </a:r>
          </a:p>
          <a:p>
            <a:r>
              <a:rPr lang="en-US" sz="3200" dirty="0">
                <a:solidFill>
                  <a:schemeClr val="bg1"/>
                </a:solidFill>
              </a:rPr>
              <a:t>Optimizer:  Adam</a:t>
            </a:r>
          </a:p>
          <a:p>
            <a:r>
              <a:rPr lang="en-US" sz="3200" dirty="0">
                <a:solidFill>
                  <a:schemeClr val="bg1"/>
                </a:solidFill>
              </a:rPr>
              <a:t>Loss Function: Categorical </a:t>
            </a:r>
            <a:r>
              <a:rPr lang="en-US" sz="3200" dirty="0" err="1">
                <a:solidFill>
                  <a:schemeClr val="bg1"/>
                </a:solidFill>
              </a:rPr>
              <a:t>Crossentropy</a:t>
            </a:r>
            <a:r>
              <a:rPr lang="en-US" sz="3200" dirty="0">
                <a:solidFill>
                  <a:schemeClr val="bg1"/>
                </a:solidFill>
              </a:rPr>
              <a:t>   </a:t>
            </a:r>
          </a:p>
          <a:p>
            <a:r>
              <a:rPr lang="en-US" sz="3200" dirty="0">
                <a:solidFill>
                  <a:schemeClr val="bg1"/>
                </a:solidFill>
              </a:rPr>
              <a:t>Library Used:  TensorFlow/</a:t>
            </a:r>
            <a:r>
              <a:rPr lang="en-US" sz="3200" dirty="0" err="1">
                <a:solidFill>
                  <a:schemeClr val="bg1"/>
                </a:solidFill>
              </a:rPr>
              <a:t>Keras</a:t>
            </a:r>
            <a:endParaRPr lang="en-US" sz="3200" dirty="0">
              <a:solidFill>
                <a:schemeClr val="bg1"/>
              </a:solidFill>
            </a:endParaRPr>
          </a:p>
          <a:p>
            <a:r>
              <a:rPr lang="en-US" sz="3200" dirty="0">
                <a:solidFill>
                  <a:schemeClr val="bg1"/>
                </a:solidFill>
              </a:rPr>
              <a:t>Inference Requirements:</a:t>
            </a:r>
          </a:p>
          <a:p>
            <a:r>
              <a:rPr lang="en-US" sz="3200" dirty="0">
                <a:solidFill>
                  <a:schemeClr val="bg1"/>
                </a:solidFill>
              </a:rPr>
              <a:t> - Memory:  ~ 100-150 MB(runtime)</a:t>
            </a:r>
          </a:p>
          <a:p>
            <a:r>
              <a:rPr lang="en-US" sz="3200" dirty="0">
                <a:solidFill>
                  <a:schemeClr val="bg1"/>
                </a:solidFill>
              </a:rPr>
              <a:t> - Inference time on CPU: ~200 </a:t>
            </a:r>
            <a:r>
              <a:rPr lang="en-US" sz="3200" dirty="0" err="1">
                <a:solidFill>
                  <a:schemeClr val="bg1"/>
                </a:solidFill>
              </a:rPr>
              <a:t>ms</a:t>
            </a:r>
            <a:r>
              <a:rPr lang="en-US" sz="3200" dirty="0">
                <a:solidFill>
                  <a:schemeClr val="bg1"/>
                </a:solidFill>
              </a:rPr>
              <a:t> (</a:t>
            </a:r>
            <a:r>
              <a:rPr lang="en-US" sz="2400" dirty="0">
                <a:solidFill>
                  <a:schemeClr val="bg1"/>
                </a:solidFill>
              </a:rPr>
              <a:t>Tested on intel i5,8 Cores, ~ 2.2Ghz </a:t>
            </a:r>
            <a:r>
              <a:rPr lang="en-US" sz="3200" dirty="0">
                <a:solidFill>
                  <a:schemeClr val="bg1"/>
                </a:solidFill>
              </a:rPr>
              <a:t>)</a:t>
            </a:r>
            <a:endParaRPr lang="en-IN" sz="3200" dirty="0">
              <a:solidFill>
                <a:schemeClr val="bg1"/>
              </a:solidFill>
            </a:endParaRP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64CC1B2E-664A-420C-B25A-E72B4B17F697}"/>
              </a:ext>
            </a:extLst>
          </p:cNvPr>
          <p:cNvSpPr txBox="1"/>
          <p:nvPr/>
        </p:nvSpPr>
        <p:spPr>
          <a:xfrm>
            <a:off x="23747524" y="14862263"/>
            <a:ext cx="439992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u="sng" dirty="0">
                <a:solidFill>
                  <a:schemeClr val="accent4"/>
                </a:solidFill>
              </a:rPr>
              <a:t>QUICK INSIGHTS:</a:t>
            </a:r>
            <a:endParaRPr lang="en-IN" sz="3200" b="1" u="sng" dirty="0">
              <a:solidFill>
                <a:schemeClr val="accent4"/>
              </a:solidFill>
            </a:endParaRPr>
          </a:p>
        </p:txBody>
      </p:sp>
      <p:sp>
        <p:nvSpPr>
          <p:cNvPr id="72" name="Rectangle 71">
            <a:extLst>
              <a:ext uri="{FF2B5EF4-FFF2-40B4-BE49-F238E27FC236}">
                <a16:creationId xmlns:a16="http://schemas.microsoft.com/office/drawing/2014/main" id="{299B852C-0E1D-4B97-976A-2E2BECD8383B}"/>
              </a:ext>
            </a:extLst>
          </p:cNvPr>
          <p:cNvSpPr/>
          <p:nvPr/>
        </p:nvSpPr>
        <p:spPr>
          <a:xfrm>
            <a:off x="16338390" y="32819851"/>
            <a:ext cx="4730244" cy="4526209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A77947D8-28CB-4DA5-8D24-316592662FDB}"/>
              </a:ext>
            </a:extLst>
          </p:cNvPr>
          <p:cNvSpPr txBox="1"/>
          <p:nvPr/>
        </p:nvSpPr>
        <p:spPr>
          <a:xfrm>
            <a:off x="1494684" y="4056854"/>
            <a:ext cx="3528867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400" b="1" dirty="0">
                <a:solidFill>
                  <a:schemeClr val="accent4"/>
                </a:solidFill>
              </a:rPr>
              <a:t>CSE-MBMU</a:t>
            </a:r>
            <a:endParaRPr lang="en-IN" sz="4400" b="1" dirty="0">
              <a:solidFill>
                <a:schemeClr val="accent4"/>
              </a:solidFill>
            </a:endParaRP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4157BE26-35B5-4481-A9D5-555D5CBB0975}"/>
              </a:ext>
            </a:extLst>
          </p:cNvPr>
          <p:cNvSpPr txBox="1"/>
          <p:nvPr/>
        </p:nvSpPr>
        <p:spPr>
          <a:xfrm>
            <a:off x="16849180" y="37619954"/>
            <a:ext cx="370866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>
                <a:solidFill>
                  <a:schemeClr val="accent5">
                    <a:lumMod val="50000"/>
                  </a:schemeClr>
                </a:solidFill>
              </a:rPr>
              <a:t>Scan for Dataset</a:t>
            </a:r>
            <a:endParaRPr lang="en-IN" sz="4800" b="1" dirty="0">
              <a:solidFill>
                <a:schemeClr val="accent5">
                  <a:lumMod val="50000"/>
                </a:schemeClr>
              </a:solidFill>
            </a:endParaRPr>
          </a:p>
        </p:txBody>
      </p:sp>
      <p:pic>
        <p:nvPicPr>
          <p:cNvPr id="77" name="Picture 76">
            <a:extLst>
              <a:ext uri="{FF2B5EF4-FFF2-40B4-BE49-F238E27FC236}">
                <a16:creationId xmlns:a16="http://schemas.microsoft.com/office/drawing/2014/main" id="{CDD1AF27-F114-4655-B93C-E04BA0E5B7C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151649" y="414594"/>
            <a:ext cx="3528867" cy="3528867"/>
          </a:xfrm>
          <a:prstGeom prst="rect">
            <a:avLst/>
          </a:prstGeom>
        </p:spPr>
      </p:pic>
      <p:sp>
        <p:nvSpPr>
          <p:cNvPr id="78" name="TextBox 77">
            <a:extLst>
              <a:ext uri="{FF2B5EF4-FFF2-40B4-BE49-F238E27FC236}">
                <a16:creationId xmlns:a16="http://schemas.microsoft.com/office/drawing/2014/main" id="{9A410BF3-1351-4036-92F1-90BABCAF36DE}"/>
              </a:ext>
            </a:extLst>
          </p:cNvPr>
          <p:cNvSpPr txBox="1"/>
          <p:nvPr/>
        </p:nvSpPr>
        <p:spPr>
          <a:xfrm>
            <a:off x="25151649" y="4063600"/>
            <a:ext cx="3528867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400" b="1" dirty="0">
                <a:solidFill>
                  <a:schemeClr val="accent4"/>
                </a:solidFill>
              </a:rPr>
              <a:t>CSE-MBMU</a:t>
            </a:r>
            <a:endParaRPr lang="en-IN" sz="4400" b="1" dirty="0">
              <a:solidFill>
                <a:schemeClr val="accent4"/>
              </a:solidFill>
            </a:endParaRPr>
          </a:p>
        </p:txBody>
      </p:sp>
      <p:sp>
        <p:nvSpPr>
          <p:cNvPr id="79" name="Rectangle 78">
            <a:extLst>
              <a:ext uri="{FF2B5EF4-FFF2-40B4-BE49-F238E27FC236}">
                <a16:creationId xmlns:a16="http://schemas.microsoft.com/office/drawing/2014/main" id="{B75B012D-C0EC-4CA5-84FC-7287028CE55C}"/>
              </a:ext>
            </a:extLst>
          </p:cNvPr>
          <p:cNvSpPr/>
          <p:nvPr/>
        </p:nvSpPr>
        <p:spPr>
          <a:xfrm>
            <a:off x="23430583" y="32863739"/>
            <a:ext cx="4730244" cy="4526209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09A7C881-9726-4AFB-BA8D-DAEDB44D48D8}"/>
              </a:ext>
            </a:extLst>
          </p:cNvPr>
          <p:cNvSpPr txBox="1"/>
          <p:nvPr/>
        </p:nvSpPr>
        <p:spPr>
          <a:xfrm>
            <a:off x="23443957" y="37663842"/>
            <a:ext cx="470349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>
                <a:solidFill>
                  <a:schemeClr val="accent5">
                    <a:lumMod val="50000"/>
                  </a:schemeClr>
                </a:solidFill>
              </a:rPr>
              <a:t>Scan for Source Code</a:t>
            </a:r>
          </a:p>
        </p:txBody>
      </p:sp>
      <p:sp>
        <p:nvSpPr>
          <p:cNvPr id="81" name="Rectangle 80">
            <a:extLst>
              <a:ext uri="{FF2B5EF4-FFF2-40B4-BE49-F238E27FC236}">
                <a16:creationId xmlns:a16="http://schemas.microsoft.com/office/drawing/2014/main" id="{2BF02C66-8D9B-4954-8C72-9CA0A224A9AE}"/>
              </a:ext>
            </a:extLst>
          </p:cNvPr>
          <p:cNvSpPr/>
          <p:nvPr/>
        </p:nvSpPr>
        <p:spPr>
          <a:xfrm>
            <a:off x="15509933" y="38459110"/>
            <a:ext cx="13646269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US" sz="2800" b="1" dirty="0"/>
              <a:t>Note: </a:t>
            </a:r>
            <a:r>
              <a:rPr lang="en-US" sz="2800" dirty="0"/>
              <a:t>Trained model weights are also available in the source code repository.</a:t>
            </a:r>
          </a:p>
        </p:txBody>
      </p:sp>
      <p:pic>
        <p:nvPicPr>
          <p:cNvPr id="5" name="Picture 4" descr="A graph showing the performance of training and validation accuracy&#10;&#10;AI-generated content may be incorrect.">
            <a:extLst>
              <a:ext uri="{FF2B5EF4-FFF2-40B4-BE49-F238E27FC236}">
                <a16:creationId xmlns:a16="http://schemas.microsoft.com/office/drawing/2014/main" id="{41058397-F735-B99B-A2BE-7D5D722A8C2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14924" y="27043521"/>
            <a:ext cx="6389452" cy="3970036"/>
          </a:xfrm>
          <a:prstGeom prst="rect">
            <a:avLst/>
          </a:prstGeom>
        </p:spPr>
      </p:pic>
      <p:pic>
        <p:nvPicPr>
          <p:cNvPr id="7" name="Picture 6" descr="A graph of training and validation loss">
            <a:extLst>
              <a:ext uri="{FF2B5EF4-FFF2-40B4-BE49-F238E27FC236}">
                <a16:creationId xmlns:a16="http://schemas.microsoft.com/office/drawing/2014/main" id="{AB44F228-AC6A-CFB9-ED10-F1B1387C46D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34601" y="27043521"/>
            <a:ext cx="6556794" cy="4099285"/>
          </a:xfrm>
          <a:prstGeom prst="rect">
            <a:avLst/>
          </a:prstGeom>
        </p:spPr>
      </p:pic>
      <p:pic>
        <p:nvPicPr>
          <p:cNvPr id="10" name="Picture 9" descr="A graph of confusion matrix&#10;&#10;AI-generated content may be incorrect.">
            <a:extLst>
              <a:ext uri="{FF2B5EF4-FFF2-40B4-BE49-F238E27FC236}">
                <a16:creationId xmlns:a16="http://schemas.microsoft.com/office/drawing/2014/main" id="{D919102D-F8A3-282D-D6ED-FED40775724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6064380" y="26179687"/>
            <a:ext cx="7035007" cy="4833869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372CDAF7-AC0A-3016-B16C-06F058956CF0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3284027" y="26287130"/>
            <a:ext cx="6076011" cy="4796248"/>
          </a:xfrm>
          <a:prstGeom prst="rect">
            <a:avLst/>
          </a:prstGeom>
        </p:spPr>
      </p:pic>
      <p:pic>
        <p:nvPicPr>
          <p:cNvPr id="20" name="Picture 19" descr="A qr code on a white background&#10;&#10;AI-generated content may be incorrect.">
            <a:extLst>
              <a:ext uri="{FF2B5EF4-FFF2-40B4-BE49-F238E27FC236}">
                <a16:creationId xmlns:a16="http://schemas.microsoft.com/office/drawing/2014/main" id="{751562FB-258B-E0FC-ED3D-C4ED96C59899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6284162" y="32726066"/>
            <a:ext cx="4838700" cy="4838700"/>
          </a:xfrm>
          <a:prstGeom prst="rect">
            <a:avLst/>
          </a:prstGeom>
        </p:spPr>
      </p:pic>
      <p:pic>
        <p:nvPicPr>
          <p:cNvPr id="23" name="Picture 22" descr="A qr code on a white background&#10;&#10;AI-generated content may be incorrect.">
            <a:extLst>
              <a:ext uri="{FF2B5EF4-FFF2-40B4-BE49-F238E27FC236}">
                <a16:creationId xmlns:a16="http://schemas.microsoft.com/office/drawing/2014/main" id="{E901FED5-F1A0-9ED3-FC94-65DE67067A42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3443957" y="32726066"/>
            <a:ext cx="5248275" cy="4842649"/>
          </a:xfrm>
          <a:prstGeom prst="rect">
            <a:avLst/>
          </a:prstGeom>
        </p:spPr>
      </p:pic>
      <p:pic>
        <p:nvPicPr>
          <p:cNvPr id="25" name="Picture 24" descr="A diagram of a software system&#10;&#10;AI-generated content may be incorrect.">
            <a:extLst>
              <a:ext uri="{FF2B5EF4-FFF2-40B4-BE49-F238E27FC236}">
                <a16:creationId xmlns:a16="http://schemas.microsoft.com/office/drawing/2014/main" id="{C76272A4-48CD-B326-B3D1-6930C08433C6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49573" y="14443285"/>
            <a:ext cx="21084518" cy="58923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8333991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2084</TotalTime>
  <Words>829</Words>
  <Application>Microsoft Office PowerPoint</Application>
  <PresentationFormat>Custom</PresentationFormat>
  <Paragraphs>84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8" baseType="lpstr">
      <vt:lpstr>Arial</vt:lpstr>
      <vt:lpstr>Calibri</vt:lpstr>
      <vt:lpstr>Calibri Light</vt:lpstr>
      <vt:lpstr>Gill Sans</vt:lpstr>
      <vt:lpstr>Roboto</vt:lpstr>
      <vt:lpstr>Roboto Medium</vt:lpstr>
      <vt:lpstr>Office Theme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Sandeep Bhatti</dc:creator>
  <cp:lastModifiedBy>Sanjay prajapat</cp:lastModifiedBy>
  <cp:revision>129</cp:revision>
  <dcterms:created xsi:type="dcterms:W3CDTF">2019-01-08T10:13:36Z</dcterms:created>
  <dcterms:modified xsi:type="dcterms:W3CDTF">2026-04-15T06:20:29Z</dcterms:modified>
</cp:coreProperties>
</file>